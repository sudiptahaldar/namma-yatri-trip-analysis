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73" r:id="rId2"/>
    <p:sldId id="256" r:id="rId3"/>
    <p:sldId id="257" r:id="rId4"/>
    <p:sldId id="258" r:id="rId5"/>
    <p:sldId id="259" r:id="rId6"/>
    <p:sldId id="294" r:id="rId7"/>
    <p:sldId id="262" r:id="rId8"/>
    <p:sldId id="260" r:id="rId9"/>
    <p:sldId id="261" r:id="rId10"/>
    <p:sldId id="263" r:id="rId11"/>
    <p:sldId id="264" r:id="rId12"/>
    <p:sldId id="295"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97" r:id="rId26"/>
    <p:sldId id="265" r:id="rId27"/>
    <p:sldId id="266" r:id="rId28"/>
    <p:sldId id="267" r:id="rId29"/>
    <p:sldId id="296" r:id="rId30"/>
    <p:sldId id="268" r:id="rId31"/>
    <p:sldId id="269" r:id="rId32"/>
    <p:sldId id="270" r:id="rId33"/>
    <p:sldId id="271"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Section" id="{D4311D97-8EBD-417D-BF03-42DA51CE6DCD}">
          <p14:sldIdLst>
            <p14:sldId id="273"/>
          </p14:sldIdLst>
        </p14:section>
        <p14:section name="Section 1" id="{AE5D9ABB-2C59-4C39-B2DF-7858FC65B8A2}">
          <p14:sldIdLst>
            <p14:sldId id="256"/>
          </p14:sldIdLst>
        </p14:section>
        <p14:section name="Section 2" id="{C05B3A84-F102-4A1A-97DC-B7AFE9A31896}">
          <p14:sldIdLst>
            <p14:sldId id="257"/>
          </p14:sldIdLst>
        </p14:section>
        <p14:section name="Section 3" id="{4DC67641-E91A-4995-82AA-FEE0FE53AE05}">
          <p14:sldIdLst>
            <p14:sldId id="258"/>
          </p14:sldIdLst>
        </p14:section>
        <p14:section name="Section 4" id="{56C6DAF5-A4F6-4BFB-A14F-906CE1CC18BE}">
          <p14:sldIdLst>
            <p14:sldId id="259"/>
            <p14:sldId id="294"/>
          </p14:sldIdLst>
        </p14:section>
        <p14:section name="Section 5" id="{9E8EC649-2292-48C4-9313-44CDF70D2435}">
          <p14:sldIdLst>
            <p14:sldId id="262"/>
          </p14:sldIdLst>
        </p14:section>
        <p14:section name="Section 5" id="{798E1DC7-2C4C-431A-9D16-9FDFEDD9CFD6}">
          <p14:sldIdLst>
            <p14:sldId id="260"/>
          </p14:sldIdLst>
        </p14:section>
        <p14:section name="Section 6" id="{C8434280-2558-47E1-AD92-B572179F9C3A}">
          <p14:sldIdLst>
            <p14:sldId id="261"/>
          </p14:sldIdLst>
        </p14:section>
        <p14:section name="Section 8" id="{C633751F-7F3D-4BBD-8ECC-20A3DE2C0A55}">
          <p14:sldIdLst>
            <p14:sldId id="263"/>
          </p14:sldIdLst>
        </p14:section>
        <p14:section name="Section 9" id="{08CDDE0F-3B12-405C-8B3E-F4A1EAC2EF17}">
          <p14:sldIdLst>
            <p14:sldId id="264"/>
            <p14:sldId id="295"/>
          </p14:sldIdLst>
        </p14:section>
        <p14:section name="Section 10" id="{0FE39523-3ACF-4DBF-8FD5-AF6D9B17FDB2}">
          <p14:sldIdLst>
            <p14:sldId id="274"/>
          </p14:sldIdLst>
        </p14:section>
        <p14:section name="Section 11" id="{95E99D9C-8AC9-40E7-A72A-E15819DDB175}">
          <p14:sldIdLst>
            <p14:sldId id="275"/>
          </p14:sldIdLst>
        </p14:section>
        <p14:section name="Section 12" id="{6FEF53B9-2985-4A82-9BA2-6E42589650BF}">
          <p14:sldIdLst>
            <p14:sldId id="276"/>
          </p14:sldIdLst>
        </p14:section>
        <p14:section name="Section 13" id="{F4B2C119-06DC-4BDD-97EF-9A59D3097AF0}">
          <p14:sldIdLst>
            <p14:sldId id="277"/>
          </p14:sldIdLst>
        </p14:section>
        <p14:section name="Section 14" id="{2F1B804F-5862-4D9E-883C-FAD30272C0EE}">
          <p14:sldIdLst>
            <p14:sldId id="278"/>
          </p14:sldIdLst>
        </p14:section>
        <p14:section name="Section 15" id="{926D31B1-B84E-4DF8-BE8B-6E7BD47B648F}">
          <p14:sldIdLst>
            <p14:sldId id="279"/>
          </p14:sldIdLst>
        </p14:section>
        <p14:section name="Section 16" id="{9F9D981E-114E-4CE7-AF74-29B6C2A46B80}">
          <p14:sldIdLst>
            <p14:sldId id="280"/>
          </p14:sldIdLst>
        </p14:section>
        <p14:section name="Section 17" id="{51E851C3-00E9-4D49-937F-686DDD4FD72F}">
          <p14:sldIdLst>
            <p14:sldId id="281"/>
          </p14:sldIdLst>
        </p14:section>
        <p14:section name="Section 18" id="{35A8D597-5821-453B-BDAD-08B26D8D533B}">
          <p14:sldIdLst>
            <p14:sldId id="282"/>
          </p14:sldIdLst>
        </p14:section>
        <p14:section name="Section 19" id="{D85DE1B6-4C85-4762-9040-8234C80E79FC}">
          <p14:sldIdLst>
            <p14:sldId id="283"/>
          </p14:sldIdLst>
        </p14:section>
        <p14:section name="Section 20" id="{9337C3EF-14CE-4FDD-BC05-1B3FD8E2F7E1}">
          <p14:sldIdLst>
            <p14:sldId id="284"/>
          </p14:sldIdLst>
        </p14:section>
        <p14:section name="Section 21" id="{078FF1AF-23E4-4924-BB8B-89CE62708DB8}">
          <p14:sldIdLst>
            <p14:sldId id="285"/>
            <p14:sldId id="297"/>
          </p14:sldIdLst>
        </p14:section>
        <p14:section name="Section 10" id="{64C7DAD2-1F8D-4407-8AA9-204D70CF3D65}">
          <p14:sldIdLst>
            <p14:sldId id="265"/>
          </p14:sldIdLst>
        </p14:section>
        <p14:section name="Section 11" id="{62B0A21F-C009-4207-A4F5-3C1AF17C99F2}">
          <p14:sldIdLst>
            <p14:sldId id="266"/>
          </p14:sldIdLst>
        </p14:section>
        <p14:section name="Section 12" id="{CDA06B36-6131-45A9-8ED7-F7F40160BCFC}">
          <p14:sldIdLst>
            <p14:sldId id="267"/>
            <p14:sldId id="296"/>
          </p14:sldIdLst>
        </p14:section>
        <p14:section name="Section 13" id="{BC3741C9-67C7-4445-8328-6F22C32FB16E}">
          <p14:sldIdLst>
            <p14:sldId id="268"/>
          </p14:sldIdLst>
        </p14:section>
        <p14:section name="Section 14" id="{6E07EDA8-04C7-4EFD-A15A-7C189AEABAB3}">
          <p14:sldIdLst>
            <p14:sldId id="269"/>
          </p14:sldIdLst>
        </p14:section>
        <p14:section name="Section 15" id="{D5369867-A4DD-4BD6-8D18-815BE015982A}">
          <p14:sldIdLst>
            <p14:sldId id="270"/>
          </p14:sldIdLst>
        </p14:section>
        <p14:section name="Section 16" id="{42A07B66-DE04-4687-806F-C54749FE8806}">
          <p14:sldIdLst>
            <p14:sldId id="27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F547F2-735B-4481-9E01-42A93708A2B3}" type="datetimeFigureOut">
              <a:rPr lang="en-IN" smtClean="0"/>
              <a:t>07-01-2026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89819-1F73-4B97-84E1-5A11CB70197D}" type="slidenum">
              <a:rPr lang="en-IN" smtClean="0"/>
              <a:t>‹#›</a:t>
            </a:fld>
            <a:endParaRPr lang="en-IN"/>
          </a:p>
        </p:txBody>
      </p:sp>
    </p:spTree>
    <p:extLst>
      <p:ext uri="{BB962C8B-B14F-4D97-AF65-F5344CB8AC3E}">
        <p14:creationId xmlns:p14="http://schemas.microsoft.com/office/powerpoint/2010/main" val="2840240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3EC7-33C5-430D-ABEF-B79D0BF87E9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133A337-35C3-4010-948F-7E82204F8A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064CF0-50FD-4FE5-8A88-5F8B1093B7EC}"/>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a:extLst>
              <a:ext uri="{FF2B5EF4-FFF2-40B4-BE49-F238E27FC236}">
                <a16:creationId xmlns:a16="http://schemas.microsoft.com/office/drawing/2014/main" id="{98D38F88-43A7-45D9-9F64-0C2CBA79D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0B2D0-DE42-4594-8DDE-99AFBF42E5B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7326669"/>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C877-00C4-4ACF-8009-F5DF7EC560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4BFDBE-DAC3-4963-B6C0-731A5C258E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55755A-0D48-47BC-B225-4F3A16A830B7}"/>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a:extLst>
              <a:ext uri="{FF2B5EF4-FFF2-40B4-BE49-F238E27FC236}">
                <a16:creationId xmlns:a16="http://schemas.microsoft.com/office/drawing/2014/main" id="{21FC1459-EAC3-4D2C-A4B7-27A448EA2E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FFB2C-FD1E-4851-9D3F-245B21ACCC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502742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5FF03-14B8-4843-B1CD-4113EA3D427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E157C9-1601-4905-A836-1FD9A111323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11816D-3126-44FC-877F-C9800641CF5D}"/>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a:extLst>
              <a:ext uri="{FF2B5EF4-FFF2-40B4-BE49-F238E27FC236}">
                <a16:creationId xmlns:a16="http://schemas.microsoft.com/office/drawing/2014/main" id="{C85C3DF3-0E7D-491D-83E5-1E0A8EB5F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AAB0B-994E-469B-9CDE-E54A46E0892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392491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1FB8-EF42-45B6-B30D-6E99E4B03C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DB1342-5D8B-4C71-BD88-2E19B892CDE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C52AE8-2F8D-4AF0-AE0D-13C9BB84E9D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95396C-E312-4E0C-B464-E1B633315118}"/>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a:extLst>
              <a:ext uri="{FF2B5EF4-FFF2-40B4-BE49-F238E27FC236}">
                <a16:creationId xmlns:a16="http://schemas.microsoft.com/office/drawing/2014/main" id="{EBD7A565-5756-468D-84E6-63317CF52F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135551-7084-4F78-9E3E-7CA684A6D59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2161677"/>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D9DE-E55F-4D1A-B277-A663F877CA79}"/>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9A6852-F73F-447B-8A09-8955823778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81D71CC-8A36-4F76-B587-A1FC925F66F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DF125E-EF13-46A5-B3E7-C5605CC3B0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809B119-E427-4EDB-A176-90CE8CC3516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9E8CD0-3BFC-4215-9466-7FE1D2401866}"/>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8" name="Footer Placeholder 7">
            <a:extLst>
              <a:ext uri="{FF2B5EF4-FFF2-40B4-BE49-F238E27FC236}">
                <a16:creationId xmlns:a16="http://schemas.microsoft.com/office/drawing/2014/main" id="{7F1C7592-C322-4917-BCA5-6019ED6E75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BA24C9-5D77-4F2A-B7C9-1C8C668DB9C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4511911"/>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79F3-2320-4481-A95C-78D641540B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E789DA-8E7A-4145-A44E-82AFFADDE33A}"/>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4" name="Footer Placeholder 3">
            <a:extLst>
              <a:ext uri="{FF2B5EF4-FFF2-40B4-BE49-F238E27FC236}">
                <a16:creationId xmlns:a16="http://schemas.microsoft.com/office/drawing/2014/main" id="{85CB553C-EBE7-4D0C-826A-5B83CF2274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959545-EEAC-4ACB-9C0E-8B3BA53495F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8841299"/>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ABFCB6-BC37-4D85-A550-CECEFEA9881F}"/>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3" name="Footer Placeholder 2">
            <a:extLst>
              <a:ext uri="{FF2B5EF4-FFF2-40B4-BE49-F238E27FC236}">
                <a16:creationId xmlns:a16="http://schemas.microsoft.com/office/drawing/2014/main" id="{DCA3D6BB-0E95-4FE1-A959-028324D83E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BFA7D8-8454-492A-8C20-6A79544A68C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15519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F7BE8-27CA-4880-A8A0-F572DE81D7D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74D6-EB6E-4AD7-A762-2ACB080D9A3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1BB091-697E-4762-AD0A-D5F75893BF9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17548B9-E8A6-4370-82C3-6790632AF37B}"/>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a:extLst>
              <a:ext uri="{FF2B5EF4-FFF2-40B4-BE49-F238E27FC236}">
                <a16:creationId xmlns:a16="http://schemas.microsoft.com/office/drawing/2014/main" id="{E697548C-A0A3-4EC1-8277-772BD2905B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30F0A-A259-49CD-AD02-D744A3F4378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5890390"/>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1D047-2EA8-4C84-95FF-AB647E06B10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4C28C28-6AEC-4646-8815-C6142F24FCE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32F33C01-61F1-4C30-A6D5-CAA887F77CC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3502CD1-9749-4B62-9ECA-BF69B021B469}"/>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a:extLst>
              <a:ext uri="{FF2B5EF4-FFF2-40B4-BE49-F238E27FC236}">
                <a16:creationId xmlns:a16="http://schemas.microsoft.com/office/drawing/2014/main" id="{7F99BBF5-CD8A-4D7C-B916-3C5666C54E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741D13-36E8-40AE-BEB8-7EBD506B6FB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570555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3247-6F70-44D8-8F4E-A43DBEB7385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D0E909-7F04-4271-B184-F37433C689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AAF9A3-E3D1-4EA3-86E0-3E21DDDFBEF3}"/>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a:extLst>
              <a:ext uri="{FF2B5EF4-FFF2-40B4-BE49-F238E27FC236}">
                <a16:creationId xmlns:a16="http://schemas.microsoft.com/office/drawing/2014/main" id="{6B4C2395-78EF-4F90-AD6B-CA0EDA6C0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F7E14-E75B-49B2-B165-F9FE495FDCF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9307052"/>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2D12D5-1DEE-4B9E-865C-3E7AA14C1F67}"/>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CAA66E-E116-43D6-863C-5517E35B161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D8F66C-666F-425E-AEFC-4DB8C614DA56}"/>
              </a:ext>
            </a:extLst>
          </p:cNvPr>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a:extLst>
              <a:ext uri="{FF2B5EF4-FFF2-40B4-BE49-F238E27FC236}">
                <a16:creationId xmlns:a16="http://schemas.microsoft.com/office/drawing/2014/main" id="{9A382659-1EF5-4FCF-ACF7-4C9BFC5D6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04A03-CB18-41A1-A82C-A741AA825A8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4869943"/>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81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1A45E2-6823-4B3C-98D4-5F8B445C48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6E313E-4D39-49D5-9343-A3A9D1E204A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938A59-4560-47D0-B4AD-A73EF6E126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1/7/2026</a:t>
            </a:fld>
            <a:endParaRPr lang="en-US"/>
          </a:p>
        </p:txBody>
      </p:sp>
      <p:sp>
        <p:nvSpPr>
          <p:cNvPr id="5" name="Footer Placeholder 4">
            <a:extLst>
              <a:ext uri="{FF2B5EF4-FFF2-40B4-BE49-F238E27FC236}">
                <a16:creationId xmlns:a16="http://schemas.microsoft.com/office/drawing/2014/main" id="{BAF1E962-3656-41B0-80BA-F2D21A42BB6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C907E6-A97B-4EF5-9333-C22413360DD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80482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png"/><Relationship Id="rId18" Type="http://schemas.microsoft.com/office/2007/relationships/hdphoto" Target="../media/hdphoto1.wdp"/><Relationship Id="rId3" Type="http://schemas.openxmlformats.org/officeDocument/2006/relationships/slide" Target="slide2.xml"/><Relationship Id="rId7" Type="http://schemas.openxmlformats.org/officeDocument/2006/relationships/image" Target="../media/image2.png"/><Relationship Id="rId12" Type="http://schemas.openxmlformats.org/officeDocument/2006/relationships/slide" Target="slide26.xml"/><Relationship Id="rId1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image" Target="../media/image4.png"/><Relationship Id="rId5" Type="http://schemas.openxmlformats.org/officeDocument/2006/relationships/image" Target="../media/image2.png"/><Relationship Id="rId15" Type="http://schemas.openxmlformats.org/officeDocument/2006/relationships/slide" Target="slide30.xml"/><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 Target="slide13.xml"/><Relationship Id="rId1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png"/><Relationship Id="rId18" Type="http://schemas.microsoft.com/office/2007/relationships/hdphoto" Target="../media/hdphoto1.wdp"/><Relationship Id="rId3" Type="http://schemas.openxmlformats.org/officeDocument/2006/relationships/slide" Target="slide2.xml"/><Relationship Id="rId7" Type="http://schemas.openxmlformats.org/officeDocument/2006/relationships/image" Target="../media/image2.png"/><Relationship Id="rId12" Type="http://schemas.openxmlformats.org/officeDocument/2006/relationships/slide" Target="slide26.xml"/><Relationship Id="rId1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image" Target="../media/image4.png"/><Relationship Id="rId5" Type="http://schemas.openxmlformats.org/officeDocument/2006/relationships/image" Target="../media/image2.png"/><Relationship Id="rId15" Type="http://schemas.openxmlformats.org/officeDocument/2006/relationships/slide" Target="slide30.xml"/><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 Target="slide13.xml"/><Relationship Id="rId1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png"/><Relationship Id="rId18" Type="http://schemas.microsoft.com/office/2007/relationships/hdphoto" Target="../media/hdphoto1.wdp"/><Relationship Id="rId3" Type="http://schemas.openxmlformats.org/officeDocument/2006/relationships/slide" Target="slide2.xml"/><Relationship Id="rId7" Type="http://schemas.openxmlformats.org/officeDocument/2006/relationships/image" Target="../media/image2.png"/><Relationship Id="rId12" Type="http://schemas.openxmlformats.org/officeDocument/2006/relationships/slide" Target="slide26.xml"/><Relationship Id="rId1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image" Target="../media/image4.png"/><Relationship Id="rId5" Type="http://schemas.openxmlformats.org/officeDocument/2006/relationships/image" Target="../media/image2.png"/><Relationship Id="rId15" Type="http://schemas.openxmlformats.org/officeDocument/2006/relationships/slide" Target="slide30.xml"/><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 Target="slide13.xml"/><Relationship Id="rId1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png"/><Relationship Id="rId18" Type="http://schemas.microsoft.com/office/2007/relationships/hdphoto" Target="../media/hdphoto1.wdp"/><Relationship Id="rId3" Type="http://schemas.openxmlformats.org/officeDocument/2006/relationships/slide" Target="slide2.xml"/><Relationship Id="rId7" Type="http://schemas.openxmlformats.org/officeDocument/2006/relationships/image" Target="../media/image2.png"/><Relationship Id="rId12" Type="http://schemas.openxmlformats.org/officeDocument/2006/relationships/slide" Target="slide26.xml"/><Relationship Id="rId1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image" Target="../media/image4.png"/><Relationship Id="rId5" Type="http://schemas.openxmlformats.org/officeDocument/2006/relationships/image" Target="../media/image2.png"/><Relationship Id="rId15" Type="http://schemas.openxmlformats.org/officeDocument/2006/relationships/slide" Target="slide30.xml"/><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 Target="slide13.xml"/><Relationship Id="rId1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png"/><Relationship Id="rId18" Type="http://schemas.microsoft.com/office/2007/relationships/hdphoto" Target="../media/hdphoto1.wdp"/><Relationship Id="rId3" Type="http://schemas.openxmlformats.org/officeDocument/2006/relationships/slide" Target="slide2.xml"/><Relationship Id="rId7" Type="http://schemas.openxmlformats.org/officeDocument/2006/relationships/image" Target="../media/image2.png"/><Relationship Id="rId12" Type="http://schemas.openxmlformats.org/officeDocument/2006/relationships/slide" Target="slide26.xml"/><Relationship Id="rId1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image" Target="../media/image4.png"/><Relationship Id="rId5" Type="http://schemas.openxmlformats.org/officeDocument/2006/relationships/image" Target="../media/image2.png"/><Relationship Id="rId15" Type="http://schemas.openxmlformats.org/officeDocument/2006/relationships/slide" Target="slide30.xml"/><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 Target="slide13.xml"/><Relationship Id="rId1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81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F3DBD93-D814-4B9F-8149-DEC3F206DEA2}"/>
                  </a:ext>
                </a:extLst>
              </p:cNvPr>
              <p:cNvGraphicFramePr>
                <a:graphicFrameLocks noChangeAspect="1"/>
              </p:cNvGraphicFramePr>
              <p:nvPr>
                <p:extLst>
                  <p:ext uri="{D42A27DB-BD31-4B8C-83A1-F6EECF244321}">
                    <p14:modId xmlns:p14="http://schemas.microsoft.com/office/powerpoint/2010/main" val="3786260076"/>
                  </p:ext>
                </p:extLst>
              </p:nvPr>
            </p:nvGraphicFramePr>
            <p:xfrm>
              <a:off x="837630" y="948520"/>
              <a:ext cx="1433015" cy="1074761"/>
            </p:xfrm>
            <a:graphic>
              <a:graphicData uri="http://schemas.microsoft.com/office/powerpoint/2016/slidezoom">
                <pslz:sldZm>
                  <pslz:sldZmObj sldId="256" cId="0">
                    <pslz:zmPr id="{55B4A315-DC2F-438C-A8E7-EB8ED2ED5570}" returnToParent="0" transitionDur="1000">
                      <p166:blipFill xmlns:p166="http://schemas.microsoft.com/office/powerpoint/2016/6/main">
                        <a:blip r:embed="rId2"/>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2F3DBD93-D814-4B9F-8149-DEC3F206DEA2}"/>
                  </a:ext>
                </a:extLst>
              </p:cNvPr>
              <p:cNvPicPr>
                <a:picLocks noGrp="1" noRot="1" noChangeAspect="1" noMove="1" noResize="1" noEditPoints="1" noAdjustHandles="1" noChangeArrowheads="1" noChangeShapeType="1"/>
              </p:cNvPicPr>
              <p:nvPr/>
            </p:nvPicPr>
            <p:blipFill>
              <a:blip r:embed="rId4"/>
              <a:stretch>
                <a:fillRect/>
              </a:stretch>
            </p:blipFill>
            <p:spPr>
              <a:xfrm>
                <a:off x="837630" y="948520"/>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9DEA19E9-B838-47B6-92D2-8312F78BC91D}"/>
                  </a:ext>
                </a:extLst>
              </p:cNvPr>
              <p:cNvGraphicFramePr>
                <a:graphicFrameLocks noChangeAspect="1"/>
              </p:cNvGraphicFramePr>
              <p:nvPr>
                <p:extLst>
                  <p:ext uri="{D42A27DB-BD31-4B8C-83A1-F6EECF244321}">
                    <p14:modId xmlns:p14="http://schemas.microsoft.com/office/powerpoint/2010/main" val="3203793990"/>
                  </p:ext>
                </p:extLst>
              </p:nvPr>
            </p:nvGraphicFramePr>
            <p:xfrm>
              <a:off x="3301903" y="594956"/>
              <a:ext cx="1433015" cy="1074761"/>
            </p:xfrm>
            <a:graphic>
              <a:graphicData uri="http://schemas.microsoft.com/office/powerpoint/2016/slidezoom">
                <pslz:sldZm>
                  <pslz:sldZmObj sldId="262" cId="0">
                    <pslz:zmPr id="{02BA28DE-2590-45EA-9A9C-87B7392605EE}" returnToParent="0" transitionDur="1000">
                      <p166:blipFill xmlns:p166="http://schemas.microsoft.com/office/powerpoint/2016/6/main">
                        <a:blip r:embed="rId5"/>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0" name="Slide Zoom 9">
                <a:hlinkClick r:id="rId6" action="ppaction://hlinksldjump"/>
                <a:extLst>
                  <a:ext uri="{FF2B5EF4-FFF2-40B4-BE49-F238E27FC236}">
                    <a16:creationId xmlns:a16="http://schemas.microsoft.com/office/drawing/2014/main" id="{9DEA19E9-B838-47B6-92D2-8312F78BC91D}"/>
                  </a:ext>
                </a:extLst>
              </p:cNvPr>
              <p:cNvPicPr>
                <a:picLocks noGrp="1" noRot="1" noChangeAspect="1" noMove="1" noResize="1" noEditPoints="1" noAdjustHandles="1" noChangeArrowheads="1" noChangeShapeType="1"/>
              </p:cNvPicPr>
              <p:nvPr/>
            </p:nvPicPr>
            <p:blipFill>
              <a:blip r:embed="rId7"/>
              <a:stretch>
                <a:fillRect/>
              </a:stretch>
            </p:blipFill>
            <p:spPr>
              <a:xfrm>
                <a:off x="3301903" y="594956"/>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778E3D90-C2D0-4200-83B1-CA97AE8804DE}"/>
                  </a:ext>
                </a:extLst>
              </p:cNvPr>
              <p:cNvGraphicFramePr>
                <a:graphicFrameLocks noChangeAspect="1"/>
              </p:cNvGraphicFramePr>
              <p:nvPr>
                <p:extLst>
                  <p:ext uri="{D42A27DB-BD31-4B8C-83A1-F6EECF244321}">
                    <p14:modId xmlns:p14="http://schemas.microsoft.com/office/powerpoint/2010/main" val="1314765937"/>
                  </p:ext>
                </p:extLst>
              </p:nvPr>
            </p:nvGraphicFramePr>
            <p:xfrm>
              <a:off x="5766176" y="893929"/>
              <a:ext cx="1433015" cy="1074761"/>
            </p:xfrm>
            <a:graphic>
              <a:graphicData uri="http://schemas.microsoft.com/office/powerpoint/2016/slidezoom">
                <pslz:sldZm>
                  <pslz:sldZmObj sldId="274" cId="922276391">
                    <pslz:zmPr id="{6C31A585-0A28-4F36-ABBF-4C2389ED7F8F}" returnToParent="0" transitionDur="1000">
                      <p166:blipFill xmlns:p166="http://schemas.microsoft.com/office/powerpoint/2016/6/main">
                        <a:blip r:embed="rId8"/>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2" name="Slide Zoom 11">
                <a:hlinkClick r:id="rId9" action="ppaction://hlinksldjump"/>
                <a:extLst>
                  <a:ext uri="{FF2B5EF4-FFF2-40B4-BE49-F238E27FC236}">
                    <a16:creationId xmlns:a16="http://schemas.microsoft.com/office/drawing/2014/main" id="{778E3D90-C2D0-4200-83B1-CA97AE8804DE}"/>
                  </a:ext>
                </a:extLst>
              </p:cNvPr>
              <p:cNvPicPr>
                <a:picLocks noGrp="1" noRot="1" noChangeAspect="1" noMove="1" noResize="1" noEditPoints="1" noAdjustHandles="1" noChangeArrowheads="1" noChangeShapeType="1"/>
              </p:cNvPicPr>
              <p:nvPr/>
            </p:nvPicPr>
            <p:blipFill>
              <a:blip r:embed="rId10"/>
              <a:stretch>
                <a:fillRect/>
              </a:stretch>
            </p:blipFill>
            <p:spPr>
              <a:xfrm>
                <a:off x="5766176" y="893929"/>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7724042-5256-4DB7-B8D1-77F4C355B229}"/>
                  </a:ext>
                </a:extLst>
              </p:cNvPr>
              <p:cNvGraphicFramePr>
                <a:graphicFrameLocks noChangeAspect="1"/>
              </p:cNvGraphicFramePr>
              <p:nvPr>
                <p:extLst>
                  <p:ext uri="{D42A27DB-BD31-4B8C-83A1-F6EECF244321}">
                    <p14:modId xmlns:p14="http://schemas.microsoft.com/office/powerpoint/2010/main" val="1678207390"/>
                  </p:ext>
                </p:extLst>
              </p:nvPr>
            </p:nvGraphicFramePr>
            <p:xfrm>
              <a:off x="1187784" y="5426692"/>
              <a:ext cx="1433016" cy="1074762"/>
            </p:xfrm>
            <a:graphic>
              <a:graphicData uri="http://schemas.microsoft.com/office/powerpoint/2016/slidezoom">
                <pslz:sldZm>
                  <pslz:sldZmObj sldId="265" cId="4215375714">
                    <pslz:zmPr id="{E4A24BE7-2370-4FB1-A388-13BF1DE044C8}" returnToParent="0" transitionDur="1000">
                      <p166:blipFill xmlns:p166="http://schemas.microsoft.com/office/powerpoint/2016/6/main">
                        <a:blip r:embed="rId11"/>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4" name="Slide Zoom 13">
                <a:hlinkClick r:id="rId12" action="ppaction://hlinksldjump"/>
                <a:extLst>
                  <a:ext uri="{FF2B5EF4-FFF2-40B4-BE49-F238E27FC236}">
                    <a16:creationId xmlns:a16="http://schemas.microsoft.com/office/drawing/2014/main" id="{57724042-5256-4DB7-B8D1-77F4C355B229}"/>
                  </a:ext>
                </a:extLst>
              </p:cNvPr>
              <p:cNvPicPr>
                <a:picLocks noGrp="1" noRot="1" noChangeAspect="1" noMove="1" noResize="1" noEditPoints="1" noAdjustHandles="1" noChangeArrowheads="1" noChangeShapeType="1"/>
              </p:cNvPicPr>
              <p:nvPr/>
            </p:nvPicPr>
            <p:blipFill>
              <a:blip r:embed="rId13"/>
              <a:stretch>
                <a:fillRect/>
              </a:stretch>
            </p:blipFill>
            <p:spPr>
              <a:xfrm>
                <a:off x="1187784" y="5426692"/>
                <a:ext cx="1433016" cy="1074762"/>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417DA442-5F2F-4206-870D-A0BA4D50B751}"/>
                  </a:ext>
                </a:extLst>
              </p:cNvPr>
              <p:cNvGraphicFramePr>
                <a:graphicFrameLocks noChangeAspect="1"/>
              </p:cNvGraphicFramePr>
              <p:nvPr>
                <p:extLst>
                  <p:ext uri="{D42A27DB-BD31-4B8C-83A1-F6EECF244321}">
                    <p14:modId xmlns:p14="http://schemas.microsoft.com/office/powerpoint/2010/main" val="1191925753"/>
                  </p:ext>
                </p:extLst>
              </p:nvPr>
            </p:nvGraphicFramePr>
            <p:xfrm>
              <a:off x="4734918" y="4889311"/>
              <a:ext cx="1433016" cy="1074762"/>
            </p:xfrm>
            <a:graphic>
              <a:graphicData uri="http://schemas.microsoft.com/office/powerpoint/2016/slidezoom">
                <pslz:sldZm>
                  <pslz:sldZmObj sldId="268" cId="3056007323">
                    <pslz:zmPr id="{AA1A169A-BD04-4C69-B25A-406BEEC069C9}" returnToParent="0" transitionDur="1000">
                      <p166:blipFill xmlns:p166="http://schemas.microsoft.com/office/powerpoint/2016/6/main">
                        <a:blip r:embed="rId14"/>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6" name="Slide Zoom 15">
                <a:hlinkClick r:id="rId15" action="ppaction://hlinksldjump"/>
                <a:extLst>
                  <a:ext uri="{FF2B5EF4-FFF2-40B4-BE49-F238E27FC236}">
                    <a16:creationId xmlns:a16="http://schemas.microsoft.com/office/drawing/2014/main" id="{417DA442-5F2F-4206-870D-A0BA4D50B751}"/>
                  </a:ext>
                </a:extLst>
              </p:cNvPr>
              <p:cNvPicPr>
                <a:picLocks noGrp="1" noRot="1" noChangeAspect="1" noMove="1" noResize="1" noEditPoints="1" noAdjustHandles="1" noChangeArrowheads="1" noChangeShapeType="1"/>
              </p:cNvPicPr>
              <p:nvPr/>
            </p:nvPicPr>
            <p:blipFill>
              <a:blip r:embed="rId16"/>
              <a:stretch>
                <a:fillRect/>
              </a:stretch>
            </p:blipFill>
            <p:spPr>
              <a:xfrm>
                <a:off x="4734918" y="4889311"/>
                <a:ext cx="1433016" cy="1074762"/>
              </a:xfrm>
              <a:prstGeom prst="rect">
                <a:avLst/>
              </a:prstGeom>
              <a:effectLst>
                <a:softEdge rad="63500"/>
              </a:effectLst>
            </p:spPr>
          </p:pic>
        </mc:Fallback>
      </mc:AlternateContent>
      <p:cxnSp>
        <p:nvCxnSpPr>
          <p:cNvPr id="21" name="Connector: Elbow 20">
            <a:extLst>
              <a:ext uri="{FF2B5EF4-FFF2-40B4-BE49-F238E27FC236}">
                <a16:creationId xmlns:a16="http://schemas.microsoft.com/office/drawing/2014/main" id="{398519EA-E18F-43B5-A398-F9CB2C4E5BB2}"/>
              </a:ext>
            </a:extLst>
          </p:cNvPr>
          <p:cNvCxnSpPr/>
          <p:nvPr/>
        </p:nvCxnSpPr>
        <p:spPr>
          <a:xfrm rot="5400000" flipH="1" flipV="1">
            <a:off x="516056" y="2344856"/>
            <a:ext cx="1047465" cy="4043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B285023-AF83-4C89-A7B1-27244E067E3A}"/>
              </a:ext>
            </a:extLst>
          </p:cNvPr>
          <p:cNvCxnSpPr/>
          <p:nvPr/>
        </p:nvCxnSpPr>
        <p:spPr>
          <a:xfrm rot="5400000" flipH="1" flipV="1">
            <a:off x="3283351" y="1811955"/>
            <a:ext cx="877297" cy="5928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D2F7B90-4354-4414-9896-B05872D8EB79}"/>
              </a:ext>
            </a:extLst>
          </p:cNvPr>
          <p:cNvCxnSpPr/>
          <p:nvPr/>
        </p:nvCxnSpPr>
        <p:spPr>
          <a:xfrm flipV="1">
            <a:off x="4572000" y="1669717"/>
            <a:ext cx="1181036" cy="713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B9430625-E8CC-45B6-99F5-9C044E802AC3}"/>
              </a:ext>
            </a:extLst>
          </p:cNvPr>
          <p:cNvCxnSpPr/>
          <p:nvPr/>
        </p:nvCxnSpPr>
        <p:spPr>
          <a:xfrm rot="16200000" flipH="1">
            <a:off x="885060" y="4669580"/>
            <a:ext cx="1091393" cy="3776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836EE5DD-AE6E-4623-A10F-12286F2647D3}"/>
              </a:ext>
            </a:extLst>
          </p:cNvPr>
          <p:cNvCxnSpPr/>
          <p:nvPr/>
        </p:nvCxnSpPr>
        <p:spPr>
          <a:xfrm>
            <a:off x="3603009" y="4203510"/>
            <a:ext cx="1131909" cy="8871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58D9B1B-9A8F-408D-A909-15B62CAE5FCA}"/>
              </a:ext>
            </a:extLst>
          </p:cNvPr>
          <p:cNvSpPr txBox="1"/>
          <p:nvPr/>
        </p:nvSpPr>
        <p:spPr>
          <a:xfrm>
            <a:off x="709684" y="594956"/>
            <a:ext cx="1719617"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Introduction</a:t>
            </a:r>
            <a:endParaRPr lang="en-IN" dirty="0">
              <a:solidFill>
                <a:schemeClr val="accent1">
                  <a:lumMod val="50000"/>
                </a:schemeClr>
              </a:solidFill>
              <a:latin typeface="Arial Rounded MT Bold" panose="020F0704030504030204" pitchFamily="34" charset="0"/>
            </a:endParaRPr>
          </a:p>
        </p:txBody>
      </p:sp>
      <p:sp>
        <p:nvSpPr>
          <p:cNvPr id="34" name="TextBox 33">
            <a:extLst>
              <a:ext uri="{FF2B5EF4-FFF2-40B4-BE49-F238E27FC236}">
                <a16:creationId xmlns:a16="http://schemas.microsoft.com/office/drawing/2014/main" id="{CA773B32-90D3-47BD-9983-0261038E676C}"/>
              </a:ext>
            </a:extLst>
          </p:cNvPr>
          <p:cNvSpPr txBox="1"/>
          <p:nvPr/>
        </p:nvSpPr>
        <p:spPr>
          <a:xfrm>
            <a:off x="3330053" y="19733"/>
            <a:ext cx="1719617" cy="646331"/>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Dashboard</a:t>
            </a:r>
            <a:endParaRPr lang="en-IN" dirty="0">
              <a:solidFill>
                <a:schemeClr val="accent1">
                  <a:lumMod val="50000"/>
                </a:schemeClr>
              </a:solidFill>
              <a:latin typeface="Arial Rounded MT Bold" panose="020F0704030504030204" pitchFamily="34" charset="0"/>
            </a:endParaRPr>
          </a:p>
        </p:txBody>
      </p:sp>
      <p:sp>
        <p:nvSpPr>
          <p:cNvPr id="35" name="TextBox 34">
            <a:extLst>
              <a:ext uri="{FF2B5EF4-FFF2-40B4-BE49-F238E27FC236}">
                <a16:creationId xmlns:a16="http://schemas.microsoft.com/office/drawing/2014/main" id="{19AA11E6-0056-4D60-A7E2-EBF0B986EE72}"/>
              </a:ext>
            </a:extLst>
          </p:cNvPr>
          <p:cNvSpPr txBox="1"/>
          <p:nvPr/>
        </p:nvSpPr>
        <p:spPr>
          <a:xfrm>
            <a:off x="5766176" y="567660"/>
            <a:ext cx="133066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EDA</a:t>
            </a:r>
            <a:endParaRPr lang="en-IN" dirty="0">
              <a:solidFill>
                <a:schemeClr val="accent1">
                  <a:lumMod val="50000"/>
                </a:schemeClr>
              </a:solidFill>
              <a:latin typeface="Arial Rounded MT Bold" panose="020F0704030504030204" pitchFamily="34" charset="0"/>
            </a:endParaRPr>
          </a:p>
        </p:txBody>
      </p:sp>
      <p:sp>
        <p:nvSpPr>
          <p:cNvPr id="36" name="TextBox 35">
            <a:extLst>
              <a:ext uri="{FF2B5EF4-FFF2-40B4-BE49-F238E27FC236}">
                <a16:creationId xmlns:a16="http://schemas.microsoft.com/office/drawing/2014/main" id="{0C5E00C7-9775-4C3E-8F76-6B47E02160E4}"/>
              </a:ext>
            </a:extLst>
          </p:cNvPr>
          <p:cNvSpPr txBox="1"/>
          <p:nvPr/>
        </p:nvSpPr>
        <p:spPr>
          <a:xfrm>
            <a:off x="982637" y="6474158"/>
            <a:ext cx="195163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SQL</a:t>
            </a:r>
            <a:endParaRPr lang="en-IN" dirty="0">
              <a:solidFill>
                <a:schemeClr val="accent1">
                  <a:lumMod val="50000"/>
                </a:schemeClr>
              </a:solidFill>
              <a:latin typeface="Arial Rounded MT Bold" panose="020F0704030504030204" pitchFamily="34" charset="0"/>
            </a:endParaRPr>
          </a:p>
        </p:txBody>
      </p:sp>
      <p:sp>
        <p:nvSpPr>
          <p:cNvPr id="37" name="TextBox 36">
            <a:extLst>
              <a:ext uri="{FF2B5EF4-FFF2-40B4-BE49-F238E27FC236}">
                <a16:creationId xmlns:a16="http://schemas.microsoft.com/office/drawing/2014/main" id="{99C7AB09-8CCB-4EF3-9F2E-0867812E3A75}"/>
              </a:ext>
            </a:extLst>
          </p:cNvPr>
          <p:cNvSpPr txBox="1"/>
          <p:nvPr/>
        </p:nvSpPr>
        <p:spPr>
          <a:xfrm>
            <a:off x="4693974" y="6045957"/>
            <a:ext cx="1529404"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Insights</a:t>
            </a:r>
            <a:endParaRPr lang="en-IN" dirty="0">
              <a:solidFill>
                <a:schemeClr val="accent1">
                  <a:lumMod val="50000"/>
                </a:schemeClr>
              </a:solidFill>
              <a:latin typeface="Arial Rounded MT Bold" panose="020F0704030504030204" pitchFamily="34" charset="0"/>
            </a:endParaRPr>
          </a:p>
        </p:txBody>
      </p:sp>
      <p:pic>
        <p:nvPicPr>
          <p:cNvPr id="38" name="Picture 37">
            <a:extLst>
              <a:ext uri="{FF2B5EF4-FFF2-40B4-BE49-F238E27FC236}">
                <a16:creationId xmlns:a16="http://schemas.microsoft.com/office/drawing/2014/main" id="{821BB080-B721-4613-97E2-A60ADCB2902D}"/>
              </a:ext>
            </a:extLst>
          </p:cNvPr>
          <p:cNvPicPr>
            <a:picLocks noChangeAspect="1"/>
          </p:cNvPicPr>
          <p:nvPr/>
        </p:nvPicPr>
        <p:blipFill>
          <a:blip r:embed="rId17">
            <a:extLst>
              <a:ext uri="{BEBA8EAE-BF5A-486C-A8C5-ECC9F3942E4B}">
                <a14:imgProps xmlns:a14="http://schemas.microsoft.com/office/drawing/2010/main">
                  <a14:imgLayer r:embed="rId18">
                    <a14:imgEffect>
                      <a14:artisticTexturizer/>
                    </a14:imgEffect>
                  </a14:imgLayer>
                </a14:imgProps>
              </a:ext>
            </a:extLst>
          </a:blip>
          <a:stretch>
            <a:fillRect/>
          </a:stretch>
        </p:blipFill>
        <p:spPr>
          <a:xfrm>
            <a:off x="-235080" y="-104776"/>
            <a:ext cx="10501258" cy="7094847"/>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
        <p:nvSpPr>
          <p:cNvPr id="2" name="TextBox 1">
            <a:extLst>
              <a:ext uri="{FF2B5EF4-FFF2-40B4-BE49-F238E27FC236}">
                <a16:creationId xmlns:a16="http://schemas.microsoft.com/office/drawing/2014/main" id="{097E8EE5-7670-46BF-9EF7-1143A2781929}"/>
              </a:ext>
            </a:extLst>
          </p:cNvPr>
          <p:cNvSpPr txBox="1"/>
          <p:nvPr/>
        </p:nvSpPr>
        <p:spPr>
          <a:xfrm>
            <a:off x="6167934" y="6495985"/>
            <a:ext cx="3151160" cy="307777"/>
          </a:xfrm>
          <a:prstGeom prst="rect">
            <a:avLst/>
          </a:prstGeom>
          <a:noFill/>
        </p:spPr>
        <p:txBody>
          <a:bodyPr wrap="square" rtlCol="0">
            <a:spAutoFit/>
          </a:bodyPr>
          <a:lstStyle/>
          <a:p>
            <a:r>
              <a:rPr lang="en-US" sz="1400" dirty="0">
                <a:solidFill>
                  <a:schemeClr val="accent1">
                    <a:lumMod val="50000"/>
                  </a:schemeClr>
                </a:solidFill>
                <a:latin typeface="Arial Rounded MT Bold" panose="020F0704030504030204" pitchFamily="34" charset="0"/>
              </a:rPr>
              <a:t>Prepared By – SUDIPTA HALDAR</a:t>
            </a:r>
          </a:p>
        </p:txBody>
      </p:sp>
    </p:spTree>
    <p:extLst>
      <p:ext uri="{BB962C8B-B14F-4D97-AF65-F5344CB8AC3E}">
        <p14:creationId xmlns:p14="http://schemas.microsoft.com/office/powerpoint/2010/main" val="2543744740"/>
      </p:ext>
    </p:extLst>
  </p:cSld>
  <p:clrMapOvr>
    <a:masterClrMapping/>
  </p:clrMapOvr>
  <mc:AlternateContent xmlns:mc="http://schemas.openxmlformats.org/markup-compatibility/2006" xmlns:p14="http://schemas.microsoft.com/office/powerpoint/2010/main">
    <mc:Choice Requires="p14">
      <p:transition spd="slow" p14:dur="125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24EDA3F-4CB0-433A-984F-AB7831D484F9}"/>
              </a:ext>
            </a:extLst>
          </p:cNvPr>
          <p:cNvSpPr txBox="1"/>
          <p:nvPr/>
        </p:nvSpPr>
        <p:spPr>
          <a:xfrm>
            <a:off x="333103" y="501660"/>
            <a:ext cx="8477793"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Introduction to Nammayatri Trips</a:t>
            </a:r>
            <a:endParaRPr lang="en-IN" sz="4400" dirty="0">
              <a:solidFill>
                <a:schemeClr val="bg1">
                  <a:lumMod val="95000"/>
                </a:schemeClr>
              </a:solidFill>
              <a:latin typeface="Bodoni MT" panose="02070603080606020203" pitchFamily="18" charset="0"/>
            </a:endParaRPr>
          </a:p>
        </p:txBody>
      </p:sp>
      <p:sp>
        <p:nvSpPr>
          <p:cNvPr id="11" name="TextBox 10">
            <a:extLst>
              <a:ext uri="{FF2B5EF4-FFF2-40B4-BE49-F238E27FC236}">
                <a16:creationId xmlns:a16="http://schemas.microsoft.com/office/drawing/2014/main" id="{42698A48-6491-4849-B349-20D32F56FACE}"/>
              </a:ext>
            </a:extLst>
          </p:cNvPr>
          <p:cNvSpPr txBox="1"/>
          <p:nvPr/>
        </p:nvSpPr>
        <p:spPr>
          <a:xfrm>
            <a:off x="378823" y="1606736"/>
            <a:ext cx="3971106" cy="4247317"/>
          </a:xfrm>
          <a:prstGeom prst="rect">
            <a:avLst/>
          </a:prstGeom>
          <a:noFill/>
        </p:spPr>
        <p:txBody>
          <a:bodyPr wrap="square" rtlCol="0">
            <a:spAutoFit/>
          </a:bodyPr>
          <a:lstStyle/>
          <a:p>
            <a:r>
              <a:rPr lang="en-US" i="0" dirty="0">
                <a:solidFill>
                  <a:schemeClr val="bg1">
                    <a:lumMod val="95000"/>
                  </a:schemeClr>
                </a:solidFill>
                <a:effectLst/>
                <a:latin typeface="Bodoni MT" panose="02070603080606020203" pitchFamily="18" charset="0"/>
              </a:rPr>
              <a:t>A "Namma Yatri trip" is </a:t>
            </a:r>
            <a:r>
              <a:rPr lang="en-US" dirty="0">
                <a:solidFill>
                  <a:schemeClr val="bg1">
                    <a:lumMod val="95000"/>
                  </a:schemeClr>
                </a:solidFill>
                <a:latin typeface="Bodoni MT" panose="02070603080606020203" pitchFamily="18" charset="0"/>
              </a:rPr>
              <a:t>a ride booked through the </a:t>
            </a:r>
            <a:r>
              <a:rPr lang="en-US" dirty="0">
                <a:solidFill>
                  <a:schemeClr val="bg1">
                    <a:lumMod val="95000"/>
                  </a:schemeClr>
                </a:solidFill>
                <a:effectLst/>
                <a:latin typeface="Bodoni MT" panose="02070603080606020203" pitchFamily="18" charset="0"/>
              </a:rPr>
              <a:t>Namma Yatri app</a:t>
            </a:r>
            <a:r>
              <a:rPr lang="en-US" dirty="0">
                <a:solidFill>
                  <a:schemeClr val="bg1">
                    <a:lumMod val="95000"/>
                  </a:schemeClr>
                </a:solidFill>
                <a:latin typeface="Bodoni MT" panose="02070603080606020203" pitchFamily="18" charset="0"/>
              </a:rPr>
              <a:t>, a </a:t>
            </a:r>
            <a:r>
              <a:rPr lang="en-US" dirty="0">
                <a:solidFill>
                  <a:schemeClr val="bg1">
                    <a:lumMod val="95000"/>
                  </a:schemeClr>
                </a:solidFill>
                <a:effectLst/>
                <a:latin typeface="Bodoni MT" panose="02070603080606020203" pitchFamily="18" charset="0"/>
              </a:rPr>
              <a:t>Bengaluru-based mobility platform</a:t>
            </a:r>
            <a:r>
              <a:rPr lang="en-US" dirty="0">
                <a:solidFill>
                  <a:schemeClr val="bg1">
                    <a:lumMod val="95000"/>
                  </a:schemeClr>
                </a:solidFill>
                <a:latin typeface="Bodoni MT" panose="02070603080606020203" pitchFamily="18" charset="0"/>
              </a:rPr>
              <a:t> focused on fair, transparent, and affordable auto and cab services</a:t>
            </a:r>
            <a:r>
              <a:rPr lang="en-US" i="0" dirty="0">
                <a:solidFill>
                  <a:schemeClr val="bg1">
                    <a:lumMod val="95000"/>
                  </a:schemeClr>
                </a:solidFill>
                <a:effectLst/>
                <a:latin typeface="Bodoni MT" panose="02070603080606020203" pitchFamily="18" charset="0"/>
              </a:rPr>
              <a:t>, unique for charging drivers zero commission, allowing them to keep 100% of fares and tips, leading to lower prices for riders and better earnings for drivers. It's a people-first movement aiming to revolutionize urban travel with integrated public transit (like metro) and private vehicle options, emphasizing driver welfare and community-backed services. </a:t>
            </a:r>
            <a:endParaRPr lang="en-IN" dirty="0">
              <a:solidFill>
                <a:schemeClr val="bg1">
                  <a:lumMod val="95000"/>
                </a:schemeClr>
              </a:solidFill>
              <a:latin typeface="Bodoni MT" panose="02070603080606020203" pitchFamily="18" charset="0"/>
            </a:endParaRPr>
          </a:p>
        </p:txBody>
      </p:sp>
      <p:pic>
        <p:nvPicPr>
          <p:cNvPr id="15" name="Picture 14">
            <a:extLst>
              <a:ext uri="{FF2B5EF4-FFF2-40B4-BE49-F238E27FC236}">
                <a16:creationId xmlns:a16="http://schemas.microsoft.com/office/drawing/2014/main" id="{A787DE2C-A6C3-4396-976B-2E8C2F9CDA16}"/>
              </a:ext>
            </a:extLst>
          </p:cNvPr>
          <p:cNvPicPr>
            <a:picLocks noChangeAspect="1"/>
          </p:cNvPicPr>
          <p:nvPr/>
        </p:nvPicPr>
        <p:blipFill>
          <a:blip r:embed="rId2">
            <a:alphaModFix amt="91000"/>
          </a:blip>
          <a:stretch>
            <a:fillRect/>
          </a:stretch>
        </p:blipFill>
        <p:spPr>
          <a:xfrm>
            <a:off x="4572000" y="1639788"/>
            <a:ext cx="4389118" cy="33502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C876AA-F13B-424E-8BC2-4B57BFC39DBD}"/>
              </a:ext>
            </a:extLst>
          </p:cNvPr>
          <p:cNvSpPr txBox="1"/>
          <p:nvPr/>
        </p:nvSpPr>
        <p:spPr>
          <a:xfrm>
            <a:off x="4820197" y="992777"/>
            <a:ext cx="3971107" cy="1446550"/>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Objective of the Project</a:t>
            </a:r>
            <a:endParaRPr lang="en-IN" sz="4400" dirty="0">
              <a:solidFill>
                <a:schemeClr val="bg1">
                  <a:lumMod val="95000"/>
                </a:schemeClr>
              </a:solidFill>
              <a:latin typeface="Bodoni MT" panose="02070603080606020203" pitchFamily="18" charset="0"/>
            </a:endParaRPr>
          </a:p>
        </p:txBody>
      </p:sp>
      <p:sp>
        <p:nvSpPr>
          <p:cNvPr id="11" name="TextBox 10">
            <a:extLst>
              <a:ext uri="{FF2B5EF4-FFF2-40B4-BE49-F238E27FC236}">
                <a16:creationId xmlns:a16="http://schemas.microsoft.com/office/drawing/2014/main" id="{34EBBA92-02F7-4D8D-8F62-3016085CEDB9}"/>
              </a:ext>
            </a:extLst>
          </p:cNvPr>
          <p:cNvSpPr txBox="1"/>
          <p:nvPr/>
        </p:nvSpPr>
        <p:spPr>
          <a:xfrm>
            <a:off x="5264333" y="2834639"/>
            <a:ext cx="3383278" cy="2585323"/>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The primary objective of Namma Yatri is to offer a seamless booking experience while effectively tracking key performance metrics. This initiative aims to gather insights for improving services and meeting users expectations across various region.</a:t>
            </a:r>
            <a:endParaRPr lang="en-IN" dirty="0">
              <a:solidFill>
                <a:schemeClr val="bg1">
                  <a:lumMod val="95000"/>
                </a:schemeClr>
              </a:solidFill>
              <a:latin typeface="Bodoni MT" panose="02070603080606020203" pitchFamily="18" charset="0"/>
            </a:endParaRPr>
          </a:p>
        </p:txBody>
      </p:sp>
      <p:pic>
        <p:nvPicPr>
          <p:cNvPr id="13" name="Picture 12">
            <a:extLst>
              <a:ext uri="{FF2B5EF4-FFF2-40B4-BE49-F238E27FC236}">
                <a16:creationId xmlns:a16="http://schemas.microsoft.com/office/drawing/2014/main" id="{19A8D424-B10B-46D3-813C-335904C2F011}"/>
              </a:ext>
            </a:extLst>
          </p:cNvPr>
          <p:cNvPicPr>
            <a:picLocks noChangeAspect="1"/>
          </p:cNvPicPr>
          <p:nvPr/>
        </p:nvPicPr>
        <p:blipFill>
          <a:blip r:embed="rId2">
            <a:alphaModFix amt="85000"/>
          </a:blip>
          <a:stretch>
            <a:fillRect/>
          </a:stretch>
        </p:blipFill>
        <p:spPr>
          <a:xfrm>
            <a:off x="182881" y="1907177"/>
            <a:ext cx="4572000" cy="2379762"/>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7A8E08-3302-453D-9105-BF3D91E9B048}"/>
              </a:ext>
            </a:extLst>
          </p:cNvPr>
          <p:cNvSpPr txBox="1"/>
          <p:nvPr/>
        </p:nvSpPr>
        <p:spPr>
          <a:xfrm>
            <a:off x="574763" y="1162594"/>
            <a:ext cx="3749040" cy="2123658"/>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Cities covered by Namma Yatri</a:t>
            </a:r>
            <a:endParaRPr lang="en-IN" sz="4400" dirty="0">
              <a:solidFill>
                <a:schemeClr val="bg1">
                  <a:lumMod val="95000"/>
                </a:schemeClr>
              </a:solidFill>
              <a:latin typeface="Bodoni MT" panose="02070603080606020203" pitchFamily="18" charset="0"/>
            </a:endParaRPr>
          </a:p>
        </p:txBody>
      </p:sp>
      <p:sp>
        <p:nvSpPr>
          <p:cNvPr id="6" name="TextBox 5">
            <a:extLst>
              <a:ext uri="{FF2B5EF4-FFF2-40B4-BE49-F238E27FC236}">
                <a16:creationId xmlns:a16="http://schemas.microsoft.com/office/drawing/2014/main" id="{B77C6555-D867-491D-AE67-916BF55956F4}"/>
              </a:ext>
            </a:extLst>
          </p:cNvPr>
          <p:cNvSpPr txBox="1"/>
          <p:nvPr/>
        </p:nvSpPr>
        <p:spPr>
          <a:xfrm>
            <a:off x="548639" y="3435528"/>
            <a:ext cx="3749040" cy="2308324"/>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Namma Yatri operates across several major Indian cities , including Bengaluru, Delhi, Hyderabad, Chennai, Kochi, Mysore and Tumkur. This broad coverage ensures that diverse urban populations benefit from improved transport services.</a:t>
            </a:r>
            <a:endParaRPr lang="en-IN" dirty="0">
              <a:solidFill>
                <a:schemeClr val="bg1">
                  <a:lumMod val="95000"/>
                </a:schemeClr>
              </a:solidFill>
              <a:latin typeface="Bodoni MT" panose="02070603080606020203" pitchFamily="18" charset="0"/>
            </a:endParaRPr>
          </a:p>
        </p:txBody>
      </p:sp>
      <p:pic>
        <p:nvPicPr>
          <p:cNvPr id="8" name="Picture 7">
            <a:extLst>
              <a:ext uri="{FF2B5EF4-FFF2-40B4-BE49-F238E27FC236}">
                <a16:creationId xmlns:a16="http://schemas.microsoft.com/office/drawing/2014/main" id="{9D012DF8-A522-451C-9B54-7A420AAE795E}"/>
              </a:ext>
            </a:extLst>
          </p:cNvPr>
          <p:cNvPicPr>
            <a:picLocks noChangeAspect="1"/>
          </p:cNvPicPr>
          <p:nvPr/>
        </p:nvPicPr>
        <p:blipFill>
          <a:blip r:embed="rId2">
            <a:alphaModFix amt="85000"/>
          </a:blip>
          <a:stretch>
            <a:fillRect/>
          </a:stretch>
        </p:blipFill>
        <p:spPr>
          <a:xfrm>
            <a:off x="4441370" y="1049782"/>
            <a:ext cx="4472940" cy="44729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206F284-1275-4EC7-B6C3-D492D54D47C2}"/>
              </a:ext>
            </a:extLst>
          </p:cNvPr>
          <p:cNvSpPr txBox="1"/>
          <p:nvPr/>
        </p:nvSpPr>
        <p:spPr>
          <a:xfrm>
            <a:off x="5238205" y="1095494"/>
            <a:ext cx="3644537" cy="1446550"/>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Tools &amp; Technologies</a:t>
            </a:r>
            <a:endParaRPr lang="en-IN" sz="4400" dirty="0">
              <a:solidFill>
                <a:schemeClr val="bg1">
                  <a:lumMod val="95000"/>
                </a:schemeClr>
              </a:solidFill>
              <a:latin typeface="Bodoni MT" panose="02070603080606020203" pitchFamily="18" charset="0"/>
            </a:endParaRPr>
          </a:p>
        </p:txBody>
      </p:sp>
      <p:sp>
        <p:nvSpPr>
          <p:cNvPr id="10" name="TextBox 9">
            <a:extLst>
              <a:ext uri="{FF2B5EF4-FFF2-40B4-BE49-F238E27FC236}">
                <a16:creationId xmlns:a16="http://schemas.microsoft.com/office/drawing/2014/main" id="{035ABD81-2501-4CCC-8528-39FBF0F481AF}"/>
              </a:ext>
            </a:extLst>
          </p:cNvPr>
          <p:cNvSpPr txBox="1"/>
          <p:nvPr/>
        </p:nvSpPr>
        <p:spPr>
          <a:xfrm>
            <a:off x="5564777" y="2899954"/>
            <a:ext cx="3082834" cy="369332"/>
          </a:xfrm>
          <a:prstGeom prst="rect">
            <a:avLst/>
          </a:prstGeom>
          <a:noFill/>
        </p:spPr>
        <p:txBody>
          <a:bodyPr wrap="square" rtlCol="0">
            <a:spAutoFit/>
          </a:bodyPr>
          <a:lstStyle/>
          <a:p>
            <a:pPr marL="285750" indent="-285750">
              <a:buFont typeface="Arial" panose="020B0604020202020204" pitchFamily="34" charset="0"/>
              <a:buChar char="•"/>
            </a:pPr>
            <a:endParaRPr lang="en-IN" dirty="0"/>
          </a:p>
        </p:txBody>
      </p:sp>
      <p:sp>
        <p:nvSpPr>
          <p:cNvPr id="11" name="Rectangle 1">
            <a:extLst>
              <a:ext uri="{FF2B5EF4-FFF2-40B4-BE49-F238E27FC236}">
                <a16:creationId xmlns:a16="http://schemas.microsoft.com/office/drawing/2014/main" id="{19359424-A29A-4D9C-9B1B-EC4FE7344237}"/>
              </a:ext>
            </a:extLst>
          </p:cNvPr>
          <p:cNvSpPr>
            <a:spLocks noChangeArrowheads="1"/>
          </p:cNvSpPr>
          <p:nvPr/>
        </p:nvSpPr>
        <p:spPr bwMode="auto">
          <a:xfrm>
            <a:off x="5251268" y="2455656"/>
            <a:ext cx="285462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Power Query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95000"/>
                </a:schemeClr>
              </a:solidFill>
              <a:effectLst/>
              <a:latin typeface="Bodoni MT" panose="020706030806060202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DAX</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95000"/>
                </a:schemeClr>
              </a:solidFill>
              <a:effectLst/>
              <a:latin typeface="Bodoni MT" panose="020706030806060202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SQL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95000"/>
                </a:schemeClr>
              </a:solidFill>
              <a:effectLst/>
              <a:latin typeface="Bodoni MT" panose="020706030806060202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Microsoft Excel (CSV files)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95000"/>
                </a:schemeClr>
              </a:solidFill>
              <a:effectLst/>
              <a:latin typeface="Bodoni MT" panose="020706030806060202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lumMod val="95000"/>
                  </a:schemeClr>
                </a:solidFill>
                <a:latin typeface="Bodoni MT" panose="02070603080606020203" pitchFamily="18" charset="0"/>
              </a:rPr>
              <a:t>Power Bi</a:t>
            </a:r>
            <a:endParaRPr kumimoji="0" lang="en-US" altLang="en-US" sz="1800" b="0" i="0" u="none" strike="noStrike" cap="none" normalizeH="0" baseline="0" dirty="0">
              <a:ln>
                <a:noFill/>
              </a:ln>
              <a:solidFill>
                <a:schemeClr val="bg1">
                  <a:lumMod val="95000"/>
                </a:schemeClr>
              </a:solidFill>
              <a:effectLst/>
              <a:latin typeface="Bodoni MT" panose="02070603080606020203" pitchFamily="18" charset="0"/>
            </a:endParaRPr>
          </a:p>
        </p:txBody>
      </p:sp>
      <p:pic>
        <p:nvPicPr>
          <p:cNvPr id="13" name="Picture 12">
            <a:extLst>
              <a:ext uri="{FF2B5EF4-FFF2-40B4-BE49-F238E27FC236}">
                <a16:creationId xmlns:a16="http://schemas.microsoft.com/office/drawing/2014/main" id="{8D738FB4-BFE1-48AA-8239-A4EF003D6349}"/>
              </a:ext>
            </a:extLst>
          </p:cNvPr>
          <p:cNvPicPr>
            <a:picLocks noChangeAspect="1"/>
          </p:cNvPicPr>
          <p:nvPr/>
        </p:nvPicPr>
        <p:blipFill>
          <a:blip r:embed="rId2"/>
          <a:stretch>
            <a:fillRect/>
          </a:stretch>
        </p:blipFill>
        <p:spPr>
          <a:xfrm>
            <a:off x="261258" y="2129130"/>
            <a:ext cx="4882125" cy="30255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81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F3DBD93-D814-4B9F-8149-DEC3F206DEA2}"/>
                  </a:ext>
                </a:extLst>
              </p:cNvPr>
              <p:cNvGraphicFramePr>
                <a:graphicFrameLocks noChangeAspect="1"/>
              </p:cNvGraphicFramePr>
              <p:nvPr/>
            </p:nvGraphicFramePr>
            <p:xfrm>
              <a:off x="837630" y="948520"/>
              <a:ext cx="1433015" cy="1074761"/>
            </p:xfrm>
            <a:graphic>
              <a:graphicData uri="http://schemas.microsoft.com/office/powerpoint/2016/slidezoom">
                <pslz:sldZm>
                  <pslz:sldZmObj sldId="256" cId="0">
                    <pslz:zmPr id="{55B4A315-DC2F-438C-A8E7-EB8ED2ED5570}" returnToParent="0" transitionDur="1000">
                      <p166:blipFill xmlns:p166="http://schemas.microsoft.com/office/powerpoint/2016/6/main">
                        <a:blip r:embed="rId2"/>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2F3DBD93-D814-4B9F-8149-DEC3F206DEA2}"/>
                  </a:ext>
                </a:extLst>
              </p:cNvPr>
              <p:cNvPicPr>
                <a:picLocks noGrp="1" noRot="1" noChangeAspect="1" noMove="1" noResize="1" noEditPoints="1" noAdjustHandles="1" noChangeArrowheads="1" noChangeShapeType="1"/>
              </p:cNvPicPr>
              <p:nvPr/>
            </p:nvPicPr>
            <p:blipFill>
              <a:blip r:embed="rId4"/>
              <a:stretch>
                <a:fillRect/>
              </a:stretch>
            </p:blipFill>
            <p:spPr>
              <a:xfrm>
                <a:off x="837630" y="948520"/>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9DEA19E9-B838-47B6-92D2-8312F78BC91D}"/>
                  </a:ext>
                </a:extLst>
              </p:cNvPr>
              <p:cNvGraphicFramePr>
                <a:graphicFrameLocks noChangeAspect="1"/>
              </p:cNvGraphicFramePr>
              <p:nvPr/>
            </p:nvGraphicFramePr>
            <p:xfrm>
              <a:off x="3301903" y="594956"/>
              <a:ext cx="1433015" cy="1074761"/>
            </p:xfrm>
            <a:graphic>
              <a:graphicData uri="http://schemas.microsoft.com/office/powerpoint/2016/slidezoom">
                <pslz:sldZm>
                  <pslz:sldZmObj sldId="262" cId="0">
                    <pslz:zmPr id="{02BA28DE-2590-45EA-9A9C-87B7392605EE}" returnToParent="0" transitionDur="1000">
                      <p166:blipFill xmlns:p166="http://schemas.microsoft.com/office/powerpoint/2016/6/main">
                        <a:blip r:embed="rId5"/>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0" name="Slide Zoom 9">
                <a:hlinkClick r:id="rId6" action="ppaction://hlinksldjump"/>
                <a:extLst>
                  <a:ext uri="{FF2B5EF4-FFF2-40B4-BE49-F238E27FC236}">
                    <a16:creationId xmlns:a16="http://schemas.microsoft.com/office/drawing/2014/main" id="{9DEA19E9-B838-47B6-92D2-8312F78BC91D}"/>
                  </a:ext>
                </a:extLst>
              </p:cNvPr>
              <p:cNvPicPr>
                <a:picLocks noGrp="1" noRot="1" noChangeAspect="1" noMove="1" noResize="1" noEditPoints="1" noAdjustHandles="1" noChangeArrowheads="1" noChangeShapeType="1"/>
              </p:cNvPicPr>
              <p:nvPr/>
            </p:nvPicPr>
            <p:blipFill>
              <a:blip r:embed="rId7"/>
              <a:stretch>
                <a:fillRect/>
              </a:stretch>
            </p:blipFill>
            <p:spPr>
              <a:xfrm>
                <a:off x="3301903" y="594956"/>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778E3D90-C2D0-4200-83B1-CA97AE8804DE}"/>
                  </a:ext>
                </a:extLst>
              </p:cNvPr>
              <p:cNvGraphicFramePr>
                <a:graphicFrameLocks noChangeAspect="1"/>
              </p:cNvGraphicFramePr>
              <p:nvPr/>
            </p:nvGraphicFramePr>
            <p:xfrm>
              <a:off x="5766176" y="893929"/>
              <a:ext cx="1433015" cy="1074761"/>
            </p:xfrm>
            <a:graphic>
              <a:graphicData uri="http://schemas.microsoft.com/office/powerpoint/2016/slidezoom">
                <pslz:sldZm>
                  <pslz:sldZmObj sldId="274" cId="922276391">
                    <pslz:zmPr id="{6C31A585-0A28-4F36-ABBF-4C2389ED7F8F}" returnToParent="0" transitionDur="1000">
                      <p166:blipFill xmlns:p166="http://schemas.microsoft.com/office/powerpoint/2016/6/main">
                        <a:blip r:embed="rId8"/>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2" name="Slide Zoom 11">
                <a:hlinkClick r:id="rId9" action="ppaction://hlinksldjump"/>
                <a:extLst>
                  <a:ext uri="{FF2B5EF4-FFF2-40B4-BE49-F238E27FC236}">
                    <a16:creationId xmlns:a16="http://schemas.microsoft.com/office/drawing/2014/main" id="{778E3D90-C2D0-4200-83B1-CA97AE8804DE}"/>
                  </a:ext>
                </a:extLst>
              </p:cNvPr>
              <p:cNvPicPr>
                <a:picLocks noGrp="1" noRot="1" noChangeAspect="1" noMove="1" noResize="1" noEditPoints="1" noAdjustHandles="1" noChangeArrowheads="1" noChangeShapeType="1"/>
              </p:cNvPicPr>
              <p:nvPr/>
            </p:nvPicPr>
            <p:blipFill>
              <a:blip r:embed="rId10"/>
              <a:stretch>
                <a:fillRect/>
              </a:stretch>
            </p:blipFill>
            <p:spPr>
              <a:xfrm>
                <a:off x="5766176" y="893929"/>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7724042-5256-4DB7-B8D1-77F4C355B229}"/>
                  </a:ext>
                </a:extLst>
              </p:cNvPr>
              <p:cNvGraphicFramePr>
                <a:graphicFrameLocks noChangeAspect="1"/>
              </p:cNvGraphicFramePr>
              <p:nvPr/>
            </p:nvGraphicFramePr>
            <p:xfrm>
              <a:off x="1187784" y="5426692"/>
              <a:ext cx="1433016" cy="1074762"/>
            </p:xfrm>
            <a:graphic>
              <a:graphicData uri="http://schemas.microsoft.com/office/powerpoint/2016/slidezoom">
                <pslz:sldZm>
                  <pslz:sldZmObj sldId="265" cId="4215375714">
                    <pslz:zmPr id="{E4A24BE7-2370-4FB1-A388-13BF1DE044C8}" returnToParent="0" transitionDur="1000">
                      <p166:blipFill xmlns:p166="http://schemas.microsoft.com/office/powerpoint/2016/6/main">
                        <a:blip r:embed="rId11"/>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4" name="Slide Zoom 13">
                <a:hlinkClick r:id="rId12" action="ppaction://hlinksldjump"/>
                <a:extLst>
                  <a:ext uri="{FF2B5EF4-FFF2-40B4-BE49-F238E27FC236}">
                    <a16:creationId xmlns:a16="http://schemas.microsoft.com/office/drawing/2014/main" id="{57724042-5256-4DB7-B8D1-77F4C355B229}"/>
                  </a:ext>
                </a:extLst>
              </p:cNvPr>
              <p:cNvPicPr>
                <a:picLocks noGrp="1" noRot="1" noChangeAspect="1" noMove="1" noResize="1" noEditPoints="1" noAdjustHandles="1" noChangeArrowheads="1" noChangeShapeType="1"/>
              </p:cNvPicPr>
              <p:nvPr/>
            </p:nvPicPr>
            <p:blipFill>
              <a:blip r:embed="rId13"/>
              <a:stretch>
                <a:fillRect/>
              </a:stretch>
            </p:blipFill>
            <p:spPr>
              <a:xfrm>
                <a:off x="1187784" y="5426692"/>
                <a:ext cx="1433016" cy="1074762"/>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417DA442-5F2F-4206-870D-A0BA4D50B751}"/>
                  </a:ext>
                </a:extLst>
              </p:cNvPr>
              <p:cNvGraphicFramePr>
                <a:graphicFrameLocks noChangeAspect="1"/>
              </p:cNvGraphicFramePr>
              <p:nvPr/>
            </p:nvGraphicFramePr>
            <p:xfrm>
              <a:off x="4734918" y="4889311"/>
              <a:ext cx="1433016" cy="1074762"/>
            </p:xfrm>
            <a:graphic>
              <a:graphicData uri="http://schemas.microsoft.com/office/powerpoint/2016/slidezoom">
                <pslz:sldZm>
                  <pslz:sldZmObj sldId="268" cId="3056007323">
                    <pslz:zmPr id="{AA1A169A-BD04-4C69-B25A-406BEEC069C9}" returnToParent="0" transitionDur="1000">
                      <p166:blipFill xmlns:p166="http://schemas.microsoft.com/office/powerpoint/2016/6/main">
                        <a:blip r:embed="rId14"/>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6" name="Slide Zoom 15">
                <a:hlinkClick r:id="rId15" action="ppaction://hlinksldjump"/>
                <a:extLst>
                  <a:ext uri="{FF2B5EF4-FFF2-40B4-BE49-F238E27FC236}">
                    <a16:creationId xmlns:a16="http://schemas.microsoft.com/office/drawing/2014/main" id="{417DA442-5F2F-4206-870D-A0BA4D50B751}"/>
                  </a:ext>
                </a:extLst>
              </p:cNvPr>
              <p:cNvPicPr>
                <a:picLocks noGrp="1" noRot="1" noChangeAspect="1" noMove="1" noResize="1" noEditPoints="1" noAdjustHandles="1" noChangeArrowheads="1" noChangeShapeType="1"/>
              </p:cNvPicPr>
              <p:nvPr/>
            </p:nvPicPr>
            <p:blipFill>
              <a:blip r:embed="rId16"/>
              <a:stretch>
                <a:fillRect/>
              </a:stretch>
            </p:blipFill>
            <p:spPr>
              <a:xfrm>
                <a:off x="4734918" y="4889311"/>
                <a:ext cx="1433016" cy="1074762"/>
              </a:xfrm>
              <a:prstGeom prst="rect">
                <a:avLst/>
              </a:prstGeom>
              <a:effectLst>
                <a:softEdge rad="63500"/>
              </a:effectLst>
            </p:spPr>
          </p:pic>
        </mc:Fallback>
      </mc:AlternateContent>
      <p:cxnSp>
        <p:nvCxnSpPr>
          <p:cNvPr id="21" name="Connector: Elbow 20">
            <a:extLst>
              <a:ext uri="{FF2B5EF4-FFF2-40B4-BE49-F238E27FC236}">
                <a16:creationId xmlns:a16="http://schemas.microsoft.com/office/drawing/2014/main" id="{398519EA-E18F-43B5-A398-F9CB2C4E5BB2}"/>
              </a:ext>
            </a:extLst>
          </p:cNvPr>
          <p:cNvCxnSpPr/>
          <p:nvPr/>
        </p:nvCxnSpPr>
        <p:spPr>
          <a:xfrm rot="5400000" flipH="1" flipV="1">
            <a:off x="516056" y="2344856"/>
            <a:ext cx="1047465" cy="4043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B285023-AF83-4C89-A7B1-27244E067E3A}"/>
              </a:ext>
            </a:extLst>
          </p:cNvPr>
          <p:cNvCxnSpPr/>
          <p:nvPr/>
        </p:nvCxnSpPr>
        <p:spPr>
          <a:xfrm rot="5400000" flipH="1" flipV="1">
            <a:off x="3283351" y="1811955"/>
            <a:ext cx="877297" cy="5928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D2F7B90-4354-4414-9896-B05872D8EB79}"/>
              </a:ext>
            </a:extLst>
          </p:cNvPr>
          <p:cNvCxnSpPr/>
          <p:nvPr/>
        </p:nvCxnSpPr>
        <p:spPr>
          <a:xfrm flipV="1">
            <a:off x="4572000" y="1669717"/>
            <a:ext cx="1181036" cy="713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B9430625-E8CC-45B6-99F5-9C044E802AC3}"/>
              </a:ext>
            </a:extLst>
          </p:cNvPr>
          <p:cNvCxnSpPr/>
          <p:nvPr/>
        </p:nvCxnSpPr>
        <p:spPr>
          <a:xfrm rot="16200000" flipH="1">
            <a:off x="885060" y="4669580"/>
            <a:ext cx="1091393" cy="3776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836EE5DD-AE6E-4623-A10F-12286F2647D3}"/>
              </a:ext>
            </a:extLst>
          </p:cNvPr>
          <p:cNvCxnSpPr/>
          <p:nvPr/>
        </p:nvCxnSpPr>
        <p:spPr>
          <a:xfrm>
            <a:off x="3603009" y="4203510"/>
            <a:ext cx="1131909" cy="8871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58D9B1B-9A8F-408D-A909-15B62CAE5FCA}"/>
              </a:ext>
            </a:extLst>
          </p:cNvPr>
          <p:cNvSpPr txBox="1"/>
          <p:nvPr/>
        </p:nvSpPr>
        <p:spPr>
          <a:xfrm>
            <a:off x="709684" y="594956"/>
            <a:ext cx="1719617"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Introduction</a:t>
            </a:r>
            <a:endParaRPr lang="en-IN" dirty="0">
              <a:solidFill>
                <a:schemeClr val="accent1">
                  <a:lumMod val="50000"/>
                </a:schemeClr>
              </a:solidFill>
              <a:latin typeface="Arial Rounded MT Bold" panose="020F0704030504030204" pitchFamily="34" charset="0"/>
            </a:endParaRPr>
          </a:p>
        </p:txBody>
      </p:sp>
      <p:sp>
        <p:nvSpPr>
          <p:cNvPr id="34" name="TextBox 33">
            <a:extLst>
              <a:ext uri="{FF2B5EF4-FFF2-40B4-BE49-F238E27FC236}">
                <a16:creationId xmlns:a16="http://schemas.microsoft.com/office/drawing/2014/main" id="{CA773B32-90D3-47BD-9983-0261038E676C}"/>
              </a:ext>
            </a:extLst>
          </p:cNvPr>
          <p:cNvSpPr txBox="1"/>
          <p:nvPr/>
        </p:nvSpPr>
        <p:spPr>
          <a:xfrm>
            <a:off x="3330053" y="19733"/>
            <a:ext cx="1719617" cy="646331"/>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Dashboard</a:t>
            </a:r>
            <a:endParaRPr lang="en-IN" dirty="0">
              <a:solidFill>
                <a:schemeClr val="accent1">
                  <a:lumMod val="50000"/>
                </a:schemeClr>
              </a:solidFill>
              <a:latin typeface="Arial Rounded MT Bold" panose="020F0704030504030204" pitchFamily="34" charset="0"/>
            </a:endParaRPr>
          </a:p>
        </p:txBody>
      </p:sp>
      <p:sp>
        <p:nvSpPr>
          <p:cNvPr id="35" name="TextBox 34">
            <a:extLst>
              <a:ext uri="{FF2B5EF4-FFF2-40B4-BE49-F238E27FC236}">
                <a16:creationId xmlns:a16="http://schemas.microsoft.com/office/drawing/2014/main" id="{19AA11E6-0056-4D60-A7E2-EBF0B986EE72}"/>
              </a:ext>
            </a:extLst>
          </p:cNvPr>
          <p:cNvSpPr txBox="1"/>
          <p:nvPr/>
        </p:nvSpPr>
        <p:spPr>
          <a:xfrm>
            <a:off x="5766176" y="567660"/>
            <a:ext cx="133066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EDA</a:t>
            </a:r>
            <a:endParaRPr lang="en-IN" dirty="0">
              <a:solidFill>
                <a:schemeClr val="accent1">
                  <a:lumMod val="50000"/>
                </a:schemeClr>
              </a:solidFill>
              <a:latin typeface="Arial Rounded MT Bold" panose="020F0704030504030204" pitchFamily="34" charset="0"/>
            </a:endParaRPr>
          </a:p>
        </p:txBody>
      </p:sp>
      <p:sp>
        <p:nvSpPr>
          <p:cNvPr id="36" name="TextBox 35">
            <a:extLst>
              <a:ext uri="{FF2B5EF4-FFF2-40B4-BE49-F238E27FC236}">
                <a16:creationId xmlns:a16="http://schemas.microsoft.com/office/drawing/2014/main" id="{0C5E00C7-9775-4C3E-8F76-6B47E02160E4}"/>
              </a:ext>
            </a:extLst>
          </p:cNvPr>
          <p:cNvSpPr txBox="1"/>
          <p:nvPr/>
        </p:nvSpPr>
        <p:spPr>
          <a:xfrm>
            <a:off x="982637" y="6474158"/>
            <a:ext cx="195163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SQL</a:t>
            </a:r>
            <a:endParaRPr lang="en-IN" dirty="0">
              <a:solidFill>
                <a:schemeClr val="accent1">
                  <a:lumMod val="50000"/>
                </a:schemeClr>
              </a:solidFill>
              <a:latin typeface="Arial Rounded MT Bold" panose="020F0704030504030204" pitchFamily="34" charset="0"/>
            </a:endParaRPr>
          </a:p>
        </p:txBody>
      </p:sp>
      <p:sp>
        <p:nvSpPr>
          <p:cNvPr id="37" name="TextBox 36">
            <a:extLst>
              <a:ext uri="{FF2B5EF4-FFF2-40B4-BE49-F238E27FC236}">
                <a16:creationId xmlns:a16="http://schemas.microsoft.com/office/drawing/2014/main" id="{99C7AB09-8CCB-4EF3-9F2E-0867812E3A75}"/>
              </a:ext>
            </a:extLst>
          </p:cNvPr>
          <p:cNvSpPr txBox="1"/>
          <p:nvPr/>
        </p:nvSpPr>
        <p:spPr>
          <a:xfrm>
            <a:off x="4693974" y="6045957"/>
            <a:ext cx="1529404"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Insights</a:t>
            </a:r>
            <a:endParaRPr lang="en-IN" dirty="0">
              <a:solidFill>
                <a:schemeClr val="accent1">
                  <a:lumMod val="50000"/>
                </a:schemeClr>
              </a:solidFill>
              <a:latin typeface="Arial Rounded MT Bold" panose="020F0704030504030204" pitchFamily="34" charset="0"/>
            </a:endParaRPr>
          </a:p>
        </p:txBody>
      </p:sp>
      <p:pic>
        <p:nvPicPr>
          <p:cNvPr id="38" name="Picture 37">
            <a:extLst>
              <a:ext uri="{FF2B5EF4-FFF2-40B4-BE49-F238E27FC236}">
                <a16:creationId xmlns:a16="http://schemas.microsoft.com/office/drawing/2014/main" id="{821BB080-B721-4613-97E2-A60ADCB2902D}"/>
              </a:ext>
            </a:extLst>
          </p:cNvPr>
          <p:cNvPicPr>
            <a:picLocks noChangeAspect="1"/>
          </p:cNvPicPr>
          <p:nvPr/>
        </p:nvPicPr>
        <p:blipFill>
          <a:blip r:embed="rId17">
            <a:extLst>
              <a:ext uri="{BEBA8EAE-BF5A-486C-A8C5-ECC9F3942E4B}">
                <a14:imgProps xmlns:a14="http://schemas.microsoft.com/office/drawing/2010/main">
                  <a14:imgLayer r:embed="rId18">
                    <a14:imgEffect>
                      <a14:artisticTexturizer/>
                    </a14:imgEffect>
                  </a14:imgLayer>
                </a14:imgProps>
              </a:ext>
            </a:extLst>
          </a:blip>
          <a:stretch>
            <a:fillRect/>
          </a:stretch>
        </p:blipFill>
        <p:spPr>
          <a:xfrm>
            <a:off x="-235080" y="-104776"/>
            <a:ext cx="10501258" cy="7094847"/>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Tree>
    <p:extLst>
      <p:ext uri="{BB962C8B-B14F-4D97-AF65-F5344CB8AC3E}">
        <p14:creationId xmlns:p14="http://schemas.microsoft.com/office/powerpoint/2010/main" val="1820333664"/>
      </p:ext>
    </p:extLst>
  </p:cSld>
  <p:clrMapOvr>
    <a:masterClrMapping/>
  </p:clrMapOvr>
  <mc:AlternateContent xmlns:mc="http://schemas.openxmlformats.org/markup-compatibility/2006" xmlns:p14="http://schemas.microsoft.com/office/powerpoint/2010/main">
    <mc:Choice Requires="p14">
      <p:transition spd="slow" p14:dur="1500">
        <p14:flythrough dir="ou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337A4DE-8244-44E9-AECF-416FDBE4395C}"/>
              </a:ext>
            </a:extLst>
          </p:cNvPr>
          <p:cNvSpPr txBox="1"/>
          <p:nvPr/>
        </p:nvSpPr>
        <p:spPr>
          <a:xfrm>
            <a:off x="496388" y="1293223"/>
            <a:ext cx="5590903"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Purpose of Dashboard</a:t>
            </a:r>
            <a:endParaRPr lang="en-IN" sz="4400" dirty="0">
              <a:solidFill>
                <a:schemeClr val="bg1">
                  <a:lumMod val="95000"/>
                </a:schemeClr>
              </a:solidFill>
              <a:latin typeface="Bodoni MT" panose="02070603080606020203" pitchFamily="18" charset="0"/>
            </a:endParaRPr>
          </a:p>
        </p:txBody>
      </p:sp>
      <p:sp>
        <p:nvSpPr>
          <p:cNvPr id="11" name="TextBox 10">
            <a:extLst>
              <a:ext uri="{FF2B5EF4-FFF2-40B4-BE49-F238E27FC236}">
                <a16:creationId xmlns:a16="http://schemas.microsoft.com/office/drawing/2014/main" id="{3743DF45-EDBC-4BD4-8632-20637B8B361A}"/>
              </a:ext>
            </a:extLst>
          </p:cNvPr>
          <p:cNvSpPr txBox="1"/>
          <p:nvPr/>
        </p:nvSpPr>
        <p:spPr>
          <a:xfrm>
            <a:off x="339632" y="2612570"/>
            <a:ext cx="4232366" cy="2585323"/>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The power bi dashboard serves as a central hub for visualizing key performance metrics, enabling stakeholders to track completed trips, fare estimates and user engagement at a glance. This functionality supports informed decision- making and operational improvements in service delivery. </a:t>
            </a:r>
          </a:p>
        </p:txBody>
      </p:sp>
      <p:pic>
        <p:nvPicPr>
          <p:cNvPr id="13" name="Picture 12">
            <a:extLst>
              <a:ext uri="{FF2B5EF4-FFF2-40B4-BE49-F238E27FC236}">
                <a16:creationId xmlns:a16="http://schemas.microsoft.com/office/drawing/2014/main" id="{CFE18BD9-7E2B-4351-9793-FAB68E1B012D}"/>
              </a:ext>
            </a:extLst>
          </p:cNvPr>
          <p:cNvPicPr>
            <a:picLocks noChangeAspect="1"/>
          </p:cNvPicPr>
          <p:nvPr/>
        </p:nvPicPr>
        <p:blipFill>
          <a:blip r:embed="rId2"/>
          <a:stretch>
            <a:fillRect/>
          </a:stretch>
        </p:blipFill>
        <p:spPr>
          <a:xfrm>
            <a:off x="4571998" y="2473973"/>
            <a:ext cx="4572000" cy="22816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68CE3E7-3CD5-4CD7-B5D7-B03FB9ED6AF4}"/>
              </a:ext>
            </a:extLst>
          </p:cNvPr>
          <p:cNvSpPr txBox="1"/>
          <p:nvPr/>
        </p:nvSpPr>
        <p:spPr>
          <a:xfrm>
            <a:off x="2632164" y="71211"/>
            <a:ext cx="3670663"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Trip Overview</a:t>
            </a:r>
            <a:endParaRPr lang="en-IN" sz="4400" dirty="0">
              <a:solidFill>
                <a:schemeClr val="bg1">
                  <a:lumMod val="95000"/>
                </a:schemeClr>
              </a:solidFill>
              <a:latin typeface="Bodoni MT" panose="02070603080606020203" pitchFamily="18" charset="0"/>
            </a:endParaRPr>
          </a:p>
        </p:txBody>
      </p:sp>
      <p:sp>
        <p:nvSpPr>
          <p:cNvPr id="10" name="TextBox 9">
            <a:extLst>
              <a:ext uri="{FF2B5EF4-FFF2-40B4-BE49-F238E27FC236}">
                <a16:creationId xmlns:a16="http://schemas.microsoft.com/office/drawing/2014/main" id="{92A4351D-B58C-49F2-B415-FEB7D7026E26}"/>
              </a:ext>
            </a:extLst>
          </p:cNvPr>
          <p:cNvSpPr txBox="1"/>
          <p:nvPr/>
        </p:nvSpPr>
        <p:spPr>
          <a:xfrm>
            <a:off x="150223" y="3866044"/>
            <a:ext cx="8843554" cy="2585323"/>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This dashboard helps Namma Yatri monitor performance, optimize routes and driver deployment, understand customer payment behavior, and ensure fair pricing through interactive, data-driven analysis.</a:t>
            </a:r>
          </a:p>
          <a:p>
            <a:endParaRPr lang="en-US" dirty="0">
              <a:latin typeface="Bodoni MT" panose="02070603080606020203" pitchFamily="18" charset="0"/>
            </a:endParaRPr>
          </a:p>
          <a:p>
            <a:r>
              <a:rPr lang="en-IN" dirty="0">
                <a:solidFill>
                  <a:schemeClr val="bg1">
                    <a:lumMod val="95000"/>
                  </a:schemeClr>
                </a:solidFill>
                <a:latin typeface="Bodoni MT" panose="02070603080606020203" pitchFamily="18" charset="0"/>
              </a:rPr>
              <a:t>Key Insights – </a:t>
            </a: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Trips completed – 983</a:t>
            </a: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Total Revenue – 7.51 lakhs</a:t>
            </a: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Average fare per KM – 53.11</a:t>
            </a: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Average Duration – 12.34</a:t>
            </a:r>
          </a:p>
        </p:txBody>
      </p:sp>
      <p:pic>
        <p:nvPicPr>
          <p:cNvPr id="13" name="Picture 12">
            <a:extLst>
              <a:ext uri="{FF2B5EF4-FFF2-40B4-BE49-F238E27FC236}">
                <a16:creationId xmlns:a16="http://schemas.microsoft.com/office/drawing/2014/main" id="{9D33D84F-180C-41E0-9BC3-52E40E3ECB8D}"/>
              </a:ext>
            </a:extLst>
          </p:cNvPr>
          <p:cNvPicPr>
            <a:picLocks noChangeAspect="1"/>
          </p:cNvPicPr>
          <p:nvPr/>
        </p:nvPicPr>
        <p:blipFill>
          <a:blip r:embed="rId2"/>
          <a:stretch>
            <a:fillRect/>
          </a:stretch>
        </p:blipFill>
        <p:spPr>
          <a:xfrm>
            <a:off x="1398751" y="870995"/>
            <a:ext cx="6090989" cy="2995049"/>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151039-FEF4-4C1C-B73D-6B5E2C5C2216}"/>
              </a:ext>
            </a:extLst>
          </p:cNvPr>
          <p:cNvSpPr txBox="1"/>
          <p:nvPr/>
        </p:nvSpPr>
        <p:spPr>
          <a:xfrm>
            <a:off x="2155371" y="26123"/>
            <a:ext cx="6492240"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Route &amp; Destination </a:t>
            </a:r>
            <a:endParaRPr lang="en-IN" sz="4400" dirty="0">
              <a:solidFill>
                <a:schemeClr val="bg1">
                  <a:lumMod val="95000"/>
                </a:schemeClr>
              </a:solidFill>
              <a:latin typeface="Bodoni MT" panose="02070603080606020203" pitchFamily="18" charset="0"/>
            </a:endParaRPr>
          </a:p>
        </p:txBody>
      </p:sp>
      <p:sp>
        <p:nvSpPr>
          <p:cNvPr id="5" name="TextBox 4">
            <a:extLst>
              <a:ext uri="{FF2B5EF4-FFF2-40B4-BE49-F238E27FC236}">
                <a16:creationId xmlns:a16="http://schemas.microsoft.com/office/drawing/2014/main" id="{D1B26491-07AF-4C68-BA5B-02CF8B71D4EB}"/>
              </a:ext>
            </a:extLst>
          </p:cNvPr>
          <p:cNvSpPr txBox="1"/>
          <p:nvPr/>
        </p:nvSpPr>
        <p:spPr>
          <a:xfrm>
            <a:off x="117566" y="3971111"/>
            <a:ext cx="8921931" cy="2585323"/>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The dashboard shows that Namma Yatri’s revenue is driven by medium-to-long distance trips on specific high-value routes, with clear destination hotspots that can be leveraged for driver optimization and revenue growth.</a:t>
            </a:r>
          </a:p>
          <a:p>
            <a:endParaRPr lang="en-US" dirty="0">
              <a:latin typeface="Bodoni MT" panose="02070603080606020203" pitchFamily="18" charset="0"/>
            </a:endParaRPr>
          </a:p>
          <a:p>
            <a:r>
              <a:rPr lang="en-US" dirty="0">
                <a:solidFill>
                  <a:schemeClr val="bg1">
                    <a:lumMod val="95000"/>
                  </a:schemeClr>
                </a:solidFill>
                <a:latin typeface="Bodoni MT" panose="02070603080606020203" pitchFamily="18" charset="0"/>
              </a:rPr>
              <a:t>Key insights – </a:t>
            </a: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Routes like Yeshwantpur → Kengeri and Hebbal → Sarjapur lead revenue.</a:t>
            </a:r>
            <a:endParaRPr lang="en-US" dirty="0">
              <a:solidFill>
                <a:schemeClr val="bg1">
                  <a:lumMod val="95000"/>
                </a:schemeClr>
              </a:solidFill>
              <a:latin typeface="Bodoni MT" panose="02070603080606020203" pitchFamily="18" charset="0"/>
            </a:endParaRP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Top drop areas include Hosakote, Chamarajpet, Kengeri, Vijay Nagar.</a:t>
            </a:r>
            <a:endParaRPr lang="en-US" dirty="0">
              <a:solidFill>
                <a:schemeClr val="bg1">
                  <a:lumMod val="95000"/>
                </a:schemeClr>
              </a:solidFill>
              <a:latin typeface="Bodoni MT" panose="02070603080606020203" pitchFamily="18" charset="0"/>
            </a:endParaRP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Average fare – 764</a:t>
            </a: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Average distance – 14.39</a:t>
            </a:r>
            <a:endParaRPr lang="en-IN" dirty="0">
              <a:solidFill>
                <a:schemeClr val="bg1">
                  <a:lumMod val="95000"/>
                </a:schemeClr>
              </a:solidFill>
              <a:latin typeface="Bodoni MT" panose="02070603080606020203" pitchFamily="18" charset="0"/>
            </a:endParaRPr>
          </a:p>
        </p:txBody>
      </p:sp>
      <p:pic>
        <p:nvPicPr>
          <p:cNvPr id="8" name="Picture 7">
            <a:extLst>
              <a:ext uri="{FF2B5EF4-FFF2-40B4-BE49-F238E27FC236}">
                <a16:creationId xmlns:a16="http://schemas.microsoft.com/office/drawing/2014/main" id="{C247F33E-BC64-4CB0-81CB-101C19B44D38}"/>
              </a:ext>
            </a:extLst>
          </p:cNvPr>
          <p:cNvPicPr>
            <a:picLocks noChangeAspect="1"/>
          </p:cNvPicPr>
          <p:nvPr/>
        </p:nvPicPr>
        <p:blipFill>
          <a:blip r:embed="rId2"/>
          <a:stretch>
            <a:fillRect/>
          </a:stretch>
        </p:blipFill>
        <p:spPr>
          <a:xfrm>
            <a:off x="1632859" y="782054"/>
            <a:ext cx="5810854" cy="3058426"/>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9A9B2E-98AE-4134-8DC7-3FB7CDB72CC9}"/>
              </a:ext>
            </a:extLst>
          </p:cNvPr>
          <p:cNvSpPr txBox="1"/>
          <p:nvPr/>
        </p:nvSpPr>
        <p:spPr>
          <a:xfrm>
            <a:off x="2272937" y="26122"/>
            <a:ext cx="4859383"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Driver &amp; Customer</a:t>
            </a:r>
            <a:endParaRPr lang="en-IN" sz="4400" dirty="0">
              <a:solidFill>
                <a:schemeClr val="bg1">
                  <a:lumMod val="95000"/>
                </a:schemeClr>
              </a:solidFill>
              <a:latin typeface="Bodoni MT" panose="02070603080606020203" pitchFamily="18" charset="0"/>
            </a:endParaRPr>
          </a:p>
        </p:txBody>
      </p:sp>
      <p:pic>
        <p:nvPicPr>
          <p:cNvPr id="7" name="Picture 6">
            <a:extLst>
              <a:ext uri="{FF2B5EF4-FFF2-40B4-BE49-F238E27FC236}">
                <a16:creationId xmlns:a16="http://schemas.microsoft.com/office/drawing/2014/main" id="{991016EB-1D67-434A-A2CE-25AF9A4F9A45}"/>
              </a:ext>
            </a:extLst>
          </p:cNvPr>
          <p:cNvPicPr>
            <a:picLocks noChangeAspect="1"/>
          </p:cNvPicPr>
          <p:nvPr/>
        </p:nvPicPr>
        <p:blipFill>
          <a:blip r:embed="rId2"/>
          <a:stretch>
            <a:fillRect/>
          </a:stretch>
        </p:blipFill>
        <p:spPr>
          <a:xfrm>
            <a:off x="1927794" y="795562"/>
            <a:ext cx="5322092" cy="3011725"/>
          </a:xfrm>
          <a:prstGeom prst="rect">
            <a:avLst/>
          </a:prstGeom>
          <a:ln>
            <a:noFill/>
          </a:ln>
          <a:effectLst>
            <a:outerShdw blurRad="292100" dist="139700" dir="2700000" algn="tl" rotWithShape="0">
              <a:srgbClr val="333333">
                <a:alpha val="65000"/>
              </a:srgbClr>
            </a:outerShdw>
          </a:effectLst>
        </p:spPr>
      </p:pic>
      <p:sp>
        <p:nvSpPr>
          <p:cNvPr id="10" name="Rectangle 1">
            <a:extLst>
              <a:ext uri="{FF2B5EF4-FFF2-40B4-BE49-F238E27FC236}">
                <a16:creationId xmlns:a16="http://schemas.microsoft.com/office/drawing/2014/main" id="{5995D92C-1718-4035-BAC5-C32A3EA2A386}"/>
              </a:ext>
            </a:extLst>
          </p:cNvPr>
          <p:cNvSpPr>
            <a:spLocks noChangeArrowheads="1"/>
          </p:cNvSpPr>
          <p:nvPr/>
        </p:nvSpPr>
        <p:spPr bwMode="auto">
          <a:xfrm>
            <a:off x="594360" y="3779662"/>
            <a:ext cx="790302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The dashboard shows that driver revenue is driven by a mix of trip volume and average distance, with consistent pricing and clear opportunities for performance-based driver incentives.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bg1">
                  <a:lumMod val="95000"/>
                </a:schemeClr>
              </a:solidFill>
              <a:latin typeface="Bodoni MT" panose="020706030806060202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Key insights –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solidFill>
                  <a:schemeClr val="bg1">
                    <a:lumMod val="95000"/>
                  </a:schemeClr>
                </a:solidFill>
                <a:latin typeface="Bodoni MT" panose="02070603080606020203" pitchFamily="18" charset="0"/>
              </a:rPr>
              <a:t>Some drivers with fewer trips earn higher revenue due to longer average distances and higher fares.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solidFill>
                  <a:schemeClr val="bg1">
                    <a:lumMod val="95000"/>
                  </a:schemeClr>
                </a:solidFill>
                <a:latin typeface="Bodoni MT" panose="02070603080606020203" pitchFamily="18" charset="0"/>
              </a:rPr>
              <a:t>Top drivers complete ~40–46 trips and generate ₹30K–₹37K revenue.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solidFill>
                  <a:schemeClr val="bg1">
                    <a:lumMod val="95000"/>
                  </a:schemeClr>
                </a:solidFill>
                <a:latin typeface="Bodoni MT" panose="02070603080606020203" pitchFamily="18" charset="0"/>
              </a:rPr>
              <a:t>Avg fare per km stays around ₹50–₹65 for most drivers.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solidFill>
                  <a:schemeClr val="bg1">
                    <a:lumMod val="95000"/>
                  </a:schemeClr>
                </a:solidFill>
                <a:latin typeface="Bodoni MT" panose="02070603080606020203" pitchFamily="18" charset="0"/>
              </a:rPr>
              <a:t>Drivers with average distances ~14–15 km tend to earn more per trip.</a:t>
            </a:r>
            <a:endParaRPr kumimoji="0" lang="en-US" altLang="en-US" sz="1800" i="0" u="none" strike="noStrike" cap="none" normalizeH="0" baseline="0" dirty="0">
              <a:ln>
                <a:noFill/>
              </a:ln>
              <a:solidFill>
                <a:schemeClr val="bg1">
                  <a:lumMod val="95000"/>
                </a:schemeClr>
              </a:solidFill>
              <a:effectLst/>
              <a:latin typeface="Bodoni MT" panose="02070603080606020203"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669D47-C6FD-4359-968B-DF382398BEDD}"/>
              </a:ext>
            </a:extLst>
          </p:cNvPr>
          <p:cNvSpPr txBox="1"/>
          <p:nvPr/>
        </p:nvSpPr>
        <p:spPr>
          <a:xfrm>
            <a:off x="1515289" y="13059"/>
            <a:ext cx="6648995"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Trips &amp; Payment Method</a:t>
            </a:r>
            <a:endParaRPr lang="en-IN" sz="4400" dirty="0">
              <a:solidFill>
                <a:schemeClr val="bg1">
                  <a:lumMod val="95000"/>
                </a:schemeClr>
              </a:solidFill>
              <a:latin typeface="Bodoni MT" panose="02070603080606020203" pitchFamily="18" charset="0"/>
            </a:endParaRPr>
          </a:p>
        </p:txBody>
      </p:sp>
      <p:pic>
        <p:nvPicPr>
          <p:cNvPr id="4" name="Picture 3">
            <a:extLst>
              <a:ext uri="{FF2B5EF4-FFF2-40B4-BE49-F238E27FC236}">
                <a16:creationId xmlns:a16="http://schemas.microsoft.com/office/drawing/2014/main" id="{4EF03DCE-B3FE-4AA5-A542-F6E5DDB1A8D0}"/>
              </a:ext>
            </a:extLst>
          </p:cNvPr>
          <p:cNvPicPr>
            <a:picLocks noChangeAspect="1"/>
          </p:cNvPicPr>
          <p:nvPr/>
        </p:nvPicPr>
        <p:blipFill>
          <a:blip r:embed="rId2"/>
          <a:stretch>
            <a:fillRect/>
          </a:stretch>
        </p:blipFill>
        <p:spPr>
          <a:xfrm>
            <a:off x="1839216" y="782500"/>
            <a:ext cx="5378014" cy="2901226"/>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4582FF91-80FC-4938-9C26-8095C3F7FF39}"/>
              </a:ext>
            </a:extLst>
          </p:cNvPr>
          <p:cNvSpPr txBox="1"/>
          <p:nvPr/>
        </p:nvSpPr>
        <p:spPr>
          <a:xfrm>
            <a:off x="352697" y="3846399"/>
            <a:ext cx="8647612" cy="2862322"/>
          </a:xfrm>
          <a:prstGeom prst="rect">
            <a:avLst/>
          </a:prstGeom>
          <a:noFill/>
        </p:spPr>
        <p:txBody>
          <a:bodyPr wrap="square">
            <a:spAutoFit/>
          </a:bodyPr>
          <a:lstStyle/>
          <a:p>
            <a:r>
              <a:rPr lang="en-US" dirty="0">
                <a:solidFill>
                  <a:schemeClr val="bg1">
                    <a:lumMod val="95000"/>
                  </a:schemeClr>
                </a:solidFill>
                <a:latin typeface="Bodoni MT" panose="02070603080606020203" pitchFamily="18" charset="0"/>
              </a:rPr>
              <a:t>The dashboard shows stable trip economics, strong digital payment adoption, clustered geographic demand, and a duration mix that supports efficient driver utilization and predictable revenue.</a:t>
            </a:r>
          </a:p>
          <a:p>
            <a:endParaRPr lang="en-US" dirty="0">
              <a:latin typeface="Bodoni MT" panose="02070603080606020203" pitchFamily="18" charset="0"/>
            </a:endParaRPr>
          </a:p>
          <a:p>
            <a:r>
              <a:rPr lang="en-US" dirty="0">
                <a:solidFill>
                  <a:schemeClr val="bg1">
                    <a:lumMod val="95000"/>
                  </a:schemeClr>
                </a:solidFill>
                <a:latin typeface="Bodoni MT" panose="02070603080606020203" pitchFamily="18" charset="0"/>
              </a:rPr>
              <a:t>Key insights – </a:t>
            </a: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UPI, credit card, and debit card contribute the majority of revenue in most assemblies.</a:t>
            </a: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Certain assemblies (e.g., dense urban/suburban areas) show higher total revenue across payment methods.</a:t>
            </a: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The map highlights hotspots where trips and revenue are concentrated.</a:t>
            </a:r>
            <a:endParaRPr lang="en-IN" dirty="0">
              <a:solidFill>
                <a:schemeClr val="bg1">
                  <a:lumMod val="95000"/>
                </a:schemeClr>
              </a:solidFill>
              <a:latin typeface="Bodoni MT" panose="02070603080606020203" pitchFamily="18" charset="0"/>
            </a:endParaRPr>
          </a:p>
        </p:txBody>
      </p:sp>
    </p:spTree>
    <p:extLst>
      <p:ext uri="{BB962C8B-B14F-4D97-AF65-F5344CB8AC3E}">
        <p14:creationId xmlns:p14="http://schemas.microsoft.com/office/powerpoint/2010/main" val="1594993093"/>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81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F3DBD93-D814-4B9F-8149-DEC3F206DEA2}"/>
                  </a:ext>
                </a:extLst>
              </p:cNvPr>
              <p:cNvGraphicFramePr>
                <a:graphicFrameLocks noChangeAspect="1"/>
              </p:cNvGraphicFramePr>
              <p:nvPr/>
            </p:nvGraphicFramePr>
            <p:xfrm>
              <a:off x="837630" y="948520"/>
              <a:ext cx="1433015" cy="1074761"/>
            </p:xfrm>
            <a:graphic>
              <a:graphicData uri="http://schemas.microsoft.com/office/powerpoint/2016/slidezoom">
                <pslz:sldZm>
                  <pslz:sldZmObj sldId="256" cId="0">
                    <pslz:zmPr id="{55B4A315-DC2F-438C-A8E7-EB8ED2ED5570}" returnToParent="0" transitionDur="1000">
                      <p166:blipFill xmlns:p166="http://schemas.microsoft.com/office/powerpoint/2016/6/main">
                        <a:blip r:embed="rId2"/>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2F3DBD93-D814-4B9F-8149-DEC3F206DEA2}"/>
                  </a:ext>
                </a:extLst>
              </p:cNvPr>
              <p:cNvPicPr>
                <a:picLocks noGrp="1" noRot="1" noChangeAspect="1" noMove="1" noResize="1" noEditPoints="1" noAdjustHandles="1" noChangeArrowheads="1" noChangeShapeType="1"/>
              </p:cNvPicPr>
              <p:nvPr/>
            </p:nvPicPr>
            <p:blipFill>
              <a:blip r:embed="rId4"/>
              <a:stretch>
                <a:fillRect/>
              </a:stretch>
            </p:blipFill>
            <p:spPr>
              <a:xfrm>
                <a:off x="837630" y="948520"/>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9DEA19E9-B838-47B6-92D2-8312F78BC91D}"/>
                  </a:ext>
                </a:extLst>
              </p:cNvPr>
              <p:cNvGraphicFramePr>
                <a:graphicFrameLocks noChangeAspect="1"/>
              </p:cNvGraphicFramePr>
              <p:nvPr/>
            </p:nvGraphicFramePr>
            <p:xfrm>
              <a:off x="3301903" y="594956"/>
              <a:ext cx="1433015" cy="1074761"/>
            </p:xfrm>
            <a:graphic>
              <a:graphicData uri="http://schemas.microsoft.com/office/powerpoint/2016/slidezoom">
                <pslz:sldZm>
                  <pslz:sldZmObj sldId="262" cId="0">
                    <pslz:zmPr id="{02BA28DE-2590-45EA-9A9C-87B7392605EE}" returnToParent="0" transitionDur="1000">
                      <p166:blipFill xmlns:p166="http://schemas.microsoft.com/office/powerpoint/2016/6/main">
                        <a:blip r:embed="rId5"/>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0" name="Slide Zoom 9">
                <a:hlinkClick r:id="rId6" action="ppaction://hlinksldjump"/>
                <a:extLst>
                  <a:ext uri="{FF2B5EF4-FFF2-40B4-BE49-F238E27FC236}">
                    <a16:creationId xmlns:a16="http://schemas.microsoft.com/office/drawing/2014/main" id="{9DEA19E9-B838-47B6-92D2-8312F78BC91D}"/>
                  </a:ext>
                </a:extLst>
              </p:cNvPr>
              <p:cNvPicPr>
                <a:picLocks noGrp="1" noRot="1" noChangeAspect="1" noMove="1" noResize="1" noEditPoints="1" noAdjustHandles="1" noChangeArrowheads="1" noChangeShapeType="1"/>
              </p:cNvPicPr>
              <p:nvPr/>
            </p:nvPicPr>
            <p:blipFill>
              <a:blip r:embed="rId7"/>
              <a:stretch>
                <a:fillRect/>
              </a:stretch>
            </p:blipFill>
            <p:spPr>
              <a:xfrm>
                <a:off x="3301903" y="594956"/>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778E3D90-C2D0-4200-83B1-CA97AE8804DE}"/>
                  </a:ext>
                </a:extLst>
              </p:cNvPr>
              <p:cNvGraphicFramePr>
                <a:graphicFrameLocks noChangeAspect="1"/>
              </p:cNvGraphicFramePr>
              <p:nvPr/>
            </p:nvGraphicFramePr>
            <p:xfrm>
              <a:off x="5766176" y="893929"/>
              <a:ext cx="1433015" cy="1074761"/>
            </p:xfrm>
            <a:graphic>
              <a:graphicData uri="http://schemas.microsoft.com/office/powerpoint/2016/slidezoom">
                <pslz:sldZm>
                  <pslz:sldZmObj sldId="274" cId="922276391">
                    <pslz:zmPr id="{6C31A585-0A28-4F36-ABBF-4C2389ED7F8F}" returnToParent="0" transitionDur="1000">
                      <p166:blipFill xmlns:p166="http://schemas.microsoft.com/office/powerpoint/2016/6/main">
                        <a:blip r:embed="rId8"/>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2" name="Slide Zoom 11">
                <a:hlinkClick r:id="rId9" action="ppaction://hlinksldjump"/>
                <a:extLst>
                  <a:ext uri="{FF2B5EF4-FFF2-40B4-BE49-F238E27FC236}">
                    <a16:creationId xmlns:a16="http://schemas.microsoft.com/office/drawing/2014/main" id="{778E3D90-C2D0-4200-83B1-CA97AE8804DE}"/>
                  </a:ext>
                </a:extLst>
              </p:cNvPr>
              <p:cNvPicPr>
                <a:picLocks noGrp="1" noRot="1" noChangeAspect="1" noMove="1" noResize="1" noEditPoints="1" noAdjustHandles="1" noChangeArrowheads="1" noChangeShapeType="1"/>
              </p:cNvPicPr>
              <p:nvPr/>
            </p:nvPicPr>
            <p:blipFill>
              <a:blip r:embed="rId10"/>
              <a:stretch>
                <a:fillRect/>
              </a:stretch>
            </p:blipFill>
            <p:spPr>
              <a:xfrm>
                <a:off x="5766176" y="893929"/>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7724042-5256-4DB7-B8D1-77F4C355B229}"/>
                  </a:ext>
                </a:extLst>
              </p:cNvPr>
              <p:cNvGraphicFramePr>
                <a:graphicFrameLocks noChangeAspect="1"/>
              </p:cNvGraphicFramePr>
              <p:nvPr/>
            </p:nvGraphicFramePr>
            <p:xfrm>
              <a:off x="1187784" y="5426692"/>
              <a:ext cx="1433016" cy="1074762"/>
            </p:xfrm>
            <a:graphic>
              <a:graphicData uri="http://schemas.microsoft.com/office/powerpoint/2016/slidezoom">
                <pslz:sldZm>
                  <pslz:sldZmObj sldId="265" cId="4215375714">
                    <pslz:zmPr id="{E4A24BE7-2370-4FB1-A388-13BF1DE044C8}" returnToParent="0" transitionDur="1000">
                      <p166:blipFill xmlns:p166="http://schemas.microsoft.com/office/powerpoint/2016/6/main">
                        <a:blip r:embed="rId11"/>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4" name="Slide Zoom 13">
                <a:hlinkClick r:id="rId12" action="ppaction://hlinksldjump"/>
                <a:extLst>
                  <a:ext uri="{FF2B5EF4-FFF2-40B4-BE49-F238E27FC236}">
                    <a16:creationId xmlns:a16="http://schemas.microsoft.com/office/drawing/2014/main" id="{57724042-5256-4DB7-B8D1-77F4C355B229}"/>
                  </a:ext>
                </a:extLst>
              </p:cNvPr>
              <p:cNvPicPr>
                <a:picLocks noGrp="1" noRot="1" noChangeAspect="1" noMove="1" noResize="1" noEditPoints="1" noAdjustHandles="1" noChangeArrowheads="1" noChangeShapeType="1"/>
              </p:cNvPicPr>
              <p:nvPr/>
            </p:nvPicPr>
            <p:blipFill>
              <a:blip r:embed="rId13"/>
              <a:stretch>
                <a:fillRect/>
              </a:stretch>
            </p:blipFill>
            <p:spPr>
              <a:xfrm>
                <a:off x="1187784" y="5426692"/>
                <a:ext cx="1433016" cy="1074762"/>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417DA442-5F2F-4206-870D-A0BA4D50B751}"/>
                  </a:ext>
                </a:extLst>
              </p:cNvPr>
              <p:cNvGraphicFramePr>
                <a:graphicFrameLocks noChangeAspect="1"/>
              </p:cNvGraphicFramePr>
              <p:nvPr/>
            </p:nvGraphicFramePr>
            <p:xfrm>
              <a:off x="4734918" y="4889311"/>
              <a:ext cx="1433016" cy="1074762"/>
            </p:xfrm>
            <a:graphic>
              <a:graphicData uri="http://schemas.microsoft.com/office/powerpoint/2016/slidezoom">
                <pslz:sldZm>
                  <pslz:sldZmObj sldId="268" cId="3056007323">
                    <pslz:zmPr id="{AA1A169A-BD04-4C69-B25A-406BEEC069C9}" returnToParent="0" transitionDur="1000">
                      <p166:blipFill xmlns:p166="http://schemas.microsoft.com/office/powerpoint/2016/6/main">
                        <a:blip r:embed="rId14"/>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6" name="Slide Zoom 15">
                <a:hlinkClick r:id="rId15" action="ppaction://hlinksldjump"/>
                <a:extLst>
                  <a:ext uri="{FF2B5EF4-FFF2-40B4-BE49-F238E27FC236}">
                    <a16:creationId xmlns:a16="http://schemas.microsoft.com/office/drawing/2014/main" id="{417DA442-5F2F-4206-870D-A0BA4D50B751}"/>
                  </a:ext>
                </a:extLst>
              </p:cNvPr>
              <p:cNvPicPr>
                <a:picLocks noGrp="1" noRot="1" noChangeAspect="1" noMove="1" noResize="1" noEditPoints="1" noAdjustHandles="1" noChangeArrowheads="1" noChangeShapeType="1"/>
              </p:cNvPicPr>
              <p:nvPr/>
            </p:nvPicPr>
            <p:blipFill>
              <a:blip r:embed="rId16"/>
              <a:stretch>
                <a:fillRect/>
              </a:stretch>
            </p:blipFill>
            <p:spPr>
              <a:xfrm>
                <a:off x="4734918" y="4889311"/>
                <a:ext cx="1433016" cy="1074762"/>
              </a:xfrm>
              <a:prstGeom prst="rect">
                <a:avLst/>
              </a:prstGeom>
              <a:effectLst>
                <a:softEdge rad="63500"/>
              </a:effectLst>
            </p:spPr>
          </p:pic>
        </mc:Fallback>
      </mc:AlternateContent>
      <p:cxnSp>
        <p:nvCxnSpPr>
          <p:cNvPr id="21" name="Connector: Elbow 20">
            <a:extLst>
              <a:ext uri="{FF2B5EF4-FFF2-40B4-BE49-F238E27FC236}">
                <a16:creationId xmlns:a16="http://schemas.microsoft.com/office/drawing/2014/main" id="{398519EA-E18F-43B5-A398-F9CB2C4E5BB2}"/>
              </a:ext>
            </a:extLst>
          </p:cNvPr>
          <p:cNvCxnSpPr/>
          <p:nvPr/>
        </p:nvCxnSpPr>
        <p:spPr>
          <a:xfrm rot="5400000" flipH="1" flipV="1">
            <a:off x="516056" y="2344856"/>
            <a:ext cx="1047465" cy="4043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B285023-AF83-4C89-A7B1-27244E067E3A}"/>
              </a:ext>
            </a:extLst>
          </p:cNvPr>
          <p:cNvCxnSpPr/>
          <p:nvPr/>
        </p:nvCxnSpPr>
        <p:spPr>
          <a:xfrm rot="5400000" flipH="1" flipV="1">
            <a:off x="3283351" y="1811955"/>
            <a:ext cx="877297" cy="5928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D2F7B90-4354-4414-9896-B05872D8EB79}"/>
              </a:ext>
            </a:extLst>
          </p:cNvPr>
          <p:cNvCxnSpPr/>
          <p:nvPr/>
        </p:nvCxnSpPr>
        <p:spPr>
          <a:xfrm flipV="1">
            <a:off x="4572000" y="1669717"/>
            <a:ext cx="1181036" cy="713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B9430625-E8CC-45B6-99F5-9C044E802AC3}"/>
              </a:ext>
            </a:extLst>
          </p:cNvPr>
          <p:cNvCxnSpPr/>
          <p:nvPr/>
        </p:nvCxnSpPr>
        <p:spPr>
          <a:xfrm rot="16200000" flipH="1">
            <a:off x="885060" y="4669580"/>
            <a:ext cx="1091393" cy="3776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836EE5DD-AE6E-4623-A10F-12286F2647D3}"/>
              </a:ext>
            </a:extLst>
          </p:cNvPr>
          <p:cNvCxnSpPr/>
          <p:nvPr/>
        </p:nvCxnSpPr>
        <p:spPr>
          <a:xfrm>
            <a:off x="3603009" y="4203510"/>
            <a:ext cx="1131909" cy="8871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58D9B1B-9A8F-408D-A909-15B62CAE5FCA}"/>
              </a:ext>
            </a:extLst>
          </p:cNvPr>
          <p:cNvSpPr txBox="1"/>
          <p:nvPr/>
        </p:nvSpPr>
        <p:spPr>
          <a:xfrm>
            <a:off x="709684" y="594956"/>
            <a:ext cx="1719617"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Introduction</a:t>
            </a:r>
            <a:endParaRPr lang="en-IN" dirty="0">
              <a:solidFill>
                <a:schemeClr val="accent1">
                  <a:lumMod val="50000"/>
                </a:schemeClr>
              </a:solidFill>
              <a:latin typeface="Arial Rounded MT Bold" panose="020F0704030504030204" pitchFamily="34" charset="0"/>
            </a:endParaRPr>
          </a:p>
        </p:txBody>
      </p:sp>
      <p:sp>
        <p:nvSpPr>
          <p:cNvPr id="34" name="TextBox 33">
            <a:extLst>
              <a:ext uri="{FF2B5EF4-FFF2-40B4-BE49-F238E27FC236}">
                <a16:creationId xmlns:a16="http://schemas.microsoft.com/office/drawing/2014/main" id="{CA773B32-90D3-47BD-9983-0261038E676C}"/>
              </a:ext>
            </a:extLst>
          </p:cNvPr>
          <p:cNvSpPr txBox="1"/>
          <p:nvPr/>
        </p:nvSpPr>
        <p:spPr>
          <a:xfrm>
            <a:off x="3330053" y="19733"/>
            <a:ext cx="1719617" cy="646331"/>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Dashboard</a:t>
            </a:r>
            <a:endParaRPr lang="en-IN" dirty="0">
              <a:solidFill>
                <a:schemeClr val="accent1">
                  <a:lumMod val="50000"/>
                </a:schemeClr>
              </a:solidFill>
              <a:latin typeface="Arial Rounded MT Bold" panose="020F0704030504030204" pitchFamily="34" charset="0"/>
            </a:endParaRPr>
          </a:p>
        </p:txBody>
      </p:sp>
      <p:sp>
        <p:nvSpPr>
          <p:cNvPr id="35" name="TextBox 34">
            <a:extLst>
              <a:ext uri="{FF2B5EF4-FFF2-40B4-BE49-F238E27FC236}">
                <a16:creationId xmlns:a16="http://schemas.microsoft.com/office/drawing/2014/main" id="{19AA11E6-0056-4D60-A7E2-EBF0B986EE72}"/>
              </a:ext>
            </a:extLst>
          </p:cNvPr>
          <p:cNvSpPr txBox="1"/>
          <p:nvPr/>
        </p:nvSpPr>
        <p:spPr>
          <a:xfrm>
            <a:off x="5766176" y="567660"/>
            <a:ext cx="133066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EDA</a:t>
            </a:r>
            <a:endParaRPr lang="en-IN" dirty="0">
              <a:solidFill>
                <a:schemeClr val="accent1">
                  <a:lumMod val="50000"/>
                </a:schemeClr>
              </a:solidFill>
              <a:latin typeface="Arial Rounded MT Bold" panose="020F0704030504030204" pitchFamily="34" charset="0"/>
            </a:endParaRPr>
          </a:p>
        </p:txBody>
      </p:sp>
      <p:sp>
        <p:nvSpPr>
          <p:cNvPr id="36" name="TextBox 35">
            <a:extLst>
              <a:ext uri="{FF2B5EF4-FFF2-40B4-BE49-F238E27FC236}">
                <a16:creationId xmlns:a16="http://schemas.microsoft.com/office/drawing/2014/main" id="{0C5E00C7-9775-4C3E-8F76-6B47E02160E4}"/>
              </a:ext>
            </a:extLst>
          </p:cNvPr>
          <p:cNvSpPr txBox="1"/>
          <p:nvPr/>
        </p:nvSpPr>
        <p:spPr>
          <a:xfrm>
            <a:off x="982637" y="6474158"/>
            <a:ext cx="195163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SQL</a:t>
            </a:r>
            <a:endParaRPr lang="en-IN" dirty="0">
              <a:solidFill>
                <a:schemeClr val="accent1">
                  <a:lumMod val="50000"/>
                </a:schemeClr>
              </a:solidFill>
              <a:latin typeface="Arial Rounded MT Bold" panose="020F0704030504030204" pitchFamily="34" charset="0"/>
            </a:endParaRPr>
          </a:p>
        </p:txBody>
      </p:sp>
      <p:sp>
        <p:nvSpPr>
          <p:cNvPr id="37" name="TextBox 36">
            <a:extLst>
              <a:ext uri="{FF2B5EF4-FFF2-40B4-BE49-F238E27FC236}">
                <a16:creationId xmlns:a16="http://schemas.microsoft.com/office/drawing/2014/main" id="{99C7AB09-8CCB-4EF3-9F2E-0867812E3A75}"/>
              </a:ext>
            </a:extLst>
          </p:cNvPr>
          <p:cNvSpPr txBox="1"/>
          <p:nvPr/>
        </p:nvSpPr>
        <p:spPr>
          <a:xfrm>
            <a:off x="4693974" y="6045957"/>
            <a:ext cx="1529404"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Insights</a:t>
            </a:r>
            <a:endParaRPr lang="en-IN" dirty="0">
              <a:solidFill>
                <a:schemeClr val="accent1">
                  <a:lumMod val="50000"/>
                </a:schemeClr>
              </a:solidFill>
              <a:latin typeface="Arial Rounded MT Bold" panose="020F0704030504030204" pitchFamily="34" charset="0"/>
            </a:endParaRPr>
          </a:p>
        </p:txBody>
      </p:sp>
      <p:pic>
        <p:nvPicPr>
          <p:cNvPr id="38" name="Picture 37">
            <a:extLst>
              <a:ext uri="{FF2B5EF4-FFF2-40B4-BE49-F238E27FC236}">
                <a16:creationId xmlns:a16="http://schemas.microsoft.com/office/drawing/2014/main" id="{821BB080-B721-4613-97E2-A60ADCB2902D}"/>
              </a:ext>
            </a:extLst>
          </p:cNvPr>
          <p:cNvPicPr>
            <a:picLocks noChangeAspect="1"/>
          </p:cNvPicPr>
          <p:nvPr/>
        </p:nvPicPr>
        <p:blipFill>
          <a:blip r:embed="rId17">
            <a:extLst>
              <a:ext uri="{BEBA8EAE-BF5A-486C-A8C5-ECC9F3942E4B}">
                <a14:imgProps xmlns:a14="http://schemas.microsoft.com/office/drawing/2010/main">
                  <a14:imgLayer r:embed="rId18">
                    <a14:imgEffect>
                      <a14:artisticTexturizer/>
                    </a14:imgEffect>
                  </a14:imgLayer>
                </a14:imgProps>
              </a:ext>
            </a:extLst>
          </a:blip>
          <a:stretch>
            <a:fillRect/>
          </a:stretch>
        </p:blipFill>
        <p:spPr>
          <a:xfrm>
            <a:off x="-235080" y="-104776"/>
            <a:ext cx="10501258" cy="7094847"/>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Tree>
    <p:extLst>
      <p:ext uri="{BB962C8B-B14F-4D97-AF65-F5344CB8AC3E}">
        <p14:creationId xmlns:p14="http://schemas.microsoft.com/office/powerpoint/2010/main" val="256644674"/>
      </p:ext>
    </p:extLst>
  </p:cSld>
  <p:clrMapOvr>
    <a:masterClrMapping/>
  </p:clrMapOvr>
  <mc:AlternateContent xmlns:mc="http://schemas.openxmlformats.org/markup-compatibility/2006" xmlns:p14="http://schemas.microsoft.com/office/powerpoint/2010/main">
    <mc:Choice Requires="p14">
      <p:transition spd="slow" p14:dur="1500">
        <p14:flythrough dir="ou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FEE999-FC42-4C56-9B7E-F91966A6135E}"/>
              </a:ext>
            </a:extLst>
          </p:cNvPr>
          <p:cNvSpPr txBox="1"/>
          <p:nvPr/>
        </p:nvSpPr>
        <p:spPr>
          <a:xfrm>
            <a:off x="1065627" y="159992"/>
            <a:ext cx="7012745" cy="1446550"/>
          </a:xfrm>
          <a:prstGeom prst="rect">
            <a:avLst/>
          </a:prstGeom>
          <a:noFill/>
        </p:spPr>
        <p:txBody>
          <a:bodyPr wrap="square">
            <a:spAutoFit/>
          </a:bodyPr>
          <a:lstStyle/>
          <a:p>
            <a:r>
              <a:rPr lang="en-US" sz="4400" dirty="0">
                <a:solidFill>
                  <a:schemeClr val="bg1">
                    <a:lumMod val="95000"/>
                  </a:schemeClr>
                </a:solidFill>
                <a:latin typeface="Bodoni MT" panose="02070603080606020203" pitchFamily="18" charset="0"/>
              </a:rPr>
              <a:t>Exploratory Data Analysis (EDA) – Overview</a:t>
            </a:r>
            <a:endParaRPr lang="en-IN" sz="4400" dirty="0">
              <a:solidFill>
                <a:schemeClr val="bg1">
                  <a:lumMod val="95000"/>
                </a:schemeClr>
              </a:solidFill>
              <a:latin typeface="Bodoni MT" panose="02070603080606020203" pitchFamily="18" charset="0"/>
            </a:endParaRPr>
          </a:p>
        </p:txBody>
      </p:sp>
      <p:pic>
        <p:nvPicPr>
          <p:cNvPr id="5" name="Picture 4">
            <a:extLst>
              <a:ext uri="{FF2B5EF4-FFF2-40B4-BE49-F238E27FC236}">
                <a16:creationId xmlns:a16="http://schemas.microsoft.com/office/drawing/2014/main" id="{8F84C906-ACE9-4C3F-A23D-05E20E79727C}"/>
              </a:ext>
            </a:extLst>
          </p:cNvPr>
          <p:cNvPicPr>
            <a:picLocks noChangeAspect="1"/>
          </p:cNvPicPr>
          <p:nvPr/>
        </p:nvPicPr>
        <p:blipFill>
          <a:blip r:embed="rId2"/>
          <a:stretch>
            <a:fillRect/>
          </a:stretch>
        </p:blipFill>
        <p:spPr>
          <a:xfrm>
            <a:off x="1545732" y="1606542"/>
            <a:ext cx="5658640" cy="2993593"/>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76CF2A7E-0907-4368-A816-AAB09292B42A}"/>
              </a:ext>
            </a:extLst>
          </p:cNvPr>
          <p:cNvSpPr txBox="1"/>
          <p:nvPr/>
        </p:nvSpPr>
        <p:spPr>
          <a:xfrm>
            <a:off x="1065627" y="4860783"/>
            <a:ext cx="6428845" cy="646331"/>
          </a:xfrm>
          <a:prstGeom prst="rect">
            <a:avLst/>
          </a:prstGeom>
          <a:noFill/>
        </p:spPr>
        <p:txBody>
          <a:bodyPr wrap="square">
            <a:spAutoFit/>
          </a:bodyPr>
          <a:lstStyle/>
          <a:p>
            <a:r>
              <a:rPr lang="en-US" dirty="0">
                <a:solidFill>
                  <a:schemeClr val="bg1">
                    <a:lumMod val="95000"/>
                  </a:schemeClr>
                </a:solidFill>
                <a:latin typeface="Bodoni MT" panose="02070603080606020203" pitchFamily="18" charset="0"/>
              </a:rPr>
              <a:t>Fare and distance are widely distributed, showing diverse trip patterns</a:t>
            </a:r>
            <a:endParaRPr lang="en-IN" dirty="0">
              <a:solidFill>
                <a:schemeClr val="bg1">
                  <a:lumMod val="95000"/>
                </a:schemeClr>
              </a:solidFill>
              <a:latin typeface="Bodoni MT" panose="02070603080606020203" pitchFamily="18" charset="0"/>
            </a:endParaRPr>
          </a:p>
        </p:txBody>
      </p:sp>
    </p:spTree>
    <p:extLst>
      <p:ext uri="{BB962C8B-B14F-4D97-AF65-F5344CB8AC3E}">
        <p14:creationId xmlns:p14="http://schemas.microsoft.com/office/powerpoint/2010/main" val="922276391"/>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EEDD9-C6EF-4575-B04D-C2D7130532BE}"/>
              </a:ext>
            </a:extLst>
          </p:cNvPr>
          <p:cNvSpPr txBox="1"/>
          <p:nvPr/>
        </p:nvSpPr>
        <p:spPr>
          <a:xfrm>
            <a:off x="858129" y="56271"/>
            <a:ext cx="8285871"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Payment &amp; Duration Analysis</a:t>
            </a:r>
          </a:p>
        </p:txBody>
      </p:sp>
      <p:pic>
        <p:nvPicPr>
          <p:cNvPr id="5" name="Picture 4">
            <a:extLst>
              <a:ext uri="{FF2B5EF4-FFF2-40B4-BE49-F238E27FC236}">
                <a16:creationId xmlns:a16="http://schemas.microsoft.com/office/drawing/2014/main" id="{DCC33AE0-0A89-404B-B9AD-FA1E5846F83D}"/>
              </a:ext>
            </a:extLst>
          </p:cNvPr>
          <p:cNvPicPr>
            <a:picLocks noChangeAspect="1"/>
          </p:cNvPicPr>
          <p:nvPr/>
        </p:nvPicPr>
        <p:blipFill>
          <a:blip r:embed="rId2"/>
          <a:stretch>
            <a:fillRect/>
          </a:stretch>
        </p:blipFill>
        <p:spPr>
          <a:xfrm>
            <a:off x="633047" y="1042654"/>
            <a:ext cx="3586429" cy="288411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5BEB9635-F250-4DBB-81E3-D12F6482C149}"/>
              </a:ext>
            </a:extLst>
          </p:cNvPr>
          <p:cNvPicPr>
            <a:picLocks noChangeAspect="1"/>
          </p:cNvPicPr>
          <p:nvPr/>
        </p:nvPicPr>
        <p:blipFill>
          <a:blip r:embed="rId3"/>
          <a:stretch>
            <a:fillRect/>
          </a:stretch>
        </p:blipFill>
        <p:spPr>
          <a:xfrm>
            <a:off x="4384102" y="1042654"/>
            <a:ext cx="4380069" cy="288411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AA732FF0-8AB1-423A-9F9F-33A616592436}"/>
              </a:ext>
            </a:extLst>
          </p:cNvPr>
          <p:cNvSpPr txBox="1"/>
          <p:nvPr/>
        </p:nvSpPr>
        <p:spPr>
          <a:xfrm>
            <a:off x="633047" y="4297794"/>
            <a:ext cx="8131124"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Digital payments dominate over cash</a:t>
            </a: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Short to medium duration trips are most frequent</a:t>
            </a:r>
            <a:endParaRPr lang="en-IN" dirty="0">
              <a:solidFill>
                <a:schemeClr val="bg1">
                  <a:lumMod val="95000"/>
                </a:schemeClr>
              </a:solidFill>
              <a:latin typeface="Bodoni MT" panose="02070603080606020203" pitchFamily="18" charset="0"/>
            </a:endParaRPr>
          </a:p>
        </p:txBody>
      </p:sp>
    </p:spTree>
    <p:extLst>
      <p:ext uri="{BB962C8B-B14F-4D97-AF65-F5344CB8AC3E}">
        <p14:creationId xmlns:p14="http://schemas.microsoft.com/office/powerpoint/2010/main" val="612372684"/>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382241-C025-4D1A-8413-521FED3E7F92}"/>
              </a:ext>
            </a:extLst>
          </p:cNvPr>
          <p:cNvSpPr txBox="1"/>
          <p:nvPr/>
        </p:nvSpPr>
        <p:spPr>
          <a:xfrm>
            <a:off x="928468" y="272533"/>
            <a:ext cx="8102990" cy="1446550"/>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Location Analysis – Pickup &amp; Drop</a:t>
            </a:r>
          </a:p>
        </p:txBody>
      </p:sp>
      <p:pic>
        <p:nvPicPr>
          <p:cNvPr id="5" name="Picture 4">
            <a:extLst>
              <a:ext uri="{FF2B5EF4-FFF2-40B4-BE49-F238E27FC236}">
                <a16:creationId xmlns:a16="http://schemas.microsoft.com/office/drawing/2014/main" id="{D071B4A0-E81D-4CB7-BAF2-54E9B6D0B376}"/>
              </a:ext>
            </a:extLst>
          </p:cNvPr>
          <p:cNvPicPr>
            <a:picLocks noChangeAspect="1"/>
          </p:cNvPicPr>
          <p:nvPr/>
        </p:nvPicPr>
        <p:blipFill>
          <a:blip r:embed="rId2"/>
          <a:stretch>
            <a:fillRect/>
          </a:stretch>
        </p:blipFill>
        <p:spPr>
          <a:xfrm>
            <a:off x="351690" y="1980182"/>
            <a:ext cx="4086119" cy="2897636"/>
          </a:xfrm>
          <a:prstGeom prst="rect">
            <a:avLst/>
          </a:prstGeom>
        </p:spPr>
      </p:pic>
      <p:pic>
        <p:nvPicPr>
          <p:cNvPr id="7" name="Picture 6">
            <a:extLst>
              <a:ext uri="{FF2B5EF4-FFF2-40B4-BE49-F238E27FC236}">
                <a16:creationId xmlns:a16="http://schemas.microsoft.com/office/drawing/2014/main" id="{51318B16-7024-4986-8F3B-80BB47EE7E9D}"/>
              </a:ext>
            </a:extLst>
          </p:cNvPr>
          <p:cNvPicPr>
            <a:picLocks noChangeAspect="1"/>
          </p:cNvPicPr>
          <p:nvPr/>
        </p:nvPicPr>
        <p:blipFill>
          <a:blip r:embed="rId3"/>
          <a:stretch>
            <a:fillRect/>
          </a:stretch>
        </p:blipFill>
        <p:spPr>
          <a:xfrm>
            <a:off x="4839285" y="1976815"/>
            <a:ext cx="3953025" cy="2901003"/>
          </a:xfrm>
          <a:prstGeom prst="rect">
            <a:avLst/>
          </a:prstGeom>
        </p:spPr>
      </p:pic>
      <p:sp>
        <p:nvSpPr>
          <p:cNvPr id="9" name="TextBox 8">
            <a:extLst>
              <a:ext uri="{FF2B5EF4-FFF2-40B4-BE49-F238E27FC236}">
                <a16:creationId xmlns:a16="http://schemas.microsoft.com/office/drawing/2014/main" id="{A3E84ADA-5F66-43E5-9437-C00D5835B605}"/>
              </a:ext>
            </a:extLst>
          </p:cNvPr>
          <p:cNvSpPr txBox="1"/>
          <p:nvPr/>
        </p:nvSpPr>
        <p:spPr>
          <a:xfrm>
            <a:off x="351690" y="5018498"/>
            <a:ext cx="844062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Demand is concentrated in specific urban areas</a:t>
            </a:r>
          </a:p>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Certain locations act as major trip destinations</a:t>
            </a:r>
            <a:endParaRPr lang="en-IN" dirty="0">
              <a:solidFill>
                <a:schemeClr val="bg1">
                  <a:lumMod val="95000"/>
                </a:schemeClr>
              </a:solidFill>
              <a:latin typeface="Bodoni MT" panose="02070603080606020203" pitchFamily="18" charset="0"/>
            </a:endParaRPr>
          </a:p>
        </p:txBody>
      </p:sp>
    </p:spTree>
    <p:extLst>
      <p:ext uri="{BB962C8B-B14F-4D97-AF65-F5344CB8AC3E}">
        <p14:creationId xmlns:p14="http://schemas.microsoft.com/office/powerpoint/2010/main" val="2571855709"/>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C259CB-C571-43F7-AED5-A681A271BF12}"/>
              </a:ext>
            </a:extLst>
          </p:cNvPr>
          <p:cNvSpPr txBox="1"/>
          <p:nvPr/>
        </p:nvSpPr>
        <p:spPr>
          <a:xfrm>
            <a:off x="1097280" y="188128"/>
            <a:ext cx="8553157"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Distance vs Fare Relationship</a:t>
            </a:r>
          </a:p>
        </p:txBody>
      </p:sp>
      <p:pic>
        <p:nvPicPr>
          <p:cNvPr id="5" name="Picture 4">
            <a:extLst>
              <a:ext uri="{FF2B5EF4-FFF2-40B4-BE49-F238E27FC236}">
                <a16:creationId xmlns:a16="http://schemas.microsoft.com/office/drawing/2014/main" id="{09740603-1D56-45AF-A5CC-CA923CDAD4FC}"/>
              </a:ext>
            </a:extLst>
          </p:cNvPr>
          <p:cNvPicPr>
            <a:picLocks noChangeAspect="1"/>
          </p:cNvPicPr>
          <p:nvPr/>
        </p:nvPicPr>
        <p:blipFill>
          <a:blip r:embed="rId2"/>
          <a:stretch>
            <a:fillRect/>
          </a:stretch>
        </p:blipFill>
        <p:spPr>
          <a:xfrm>
            <a:off x="2184176" y="1070111"/>
            <a:ext cx="4775647" cy="3178441"/>
          </a:xfrm>
          <a:prstGeom prst="rect">
            <a:avLst/>
          </a:prstGeom>
        </p:spPr>
      </p:pic>
      <p:sp>
        <p:nvSpPr>
          <p:cNvPr id="6" name="Rectangle 1">
            <a:extLst>
              <a:ext uri="{FF2B5EF4-FFF2-40B4-BE49-F238E27FC236}">
                <a16:creationId xmlns:a16="http://schemas.microsoft.com/office/drawing/2014/main" id="{EF83FE63-AAF1-4ACD-A24D-E64D2F679AFD}"/>
              </a:ext>
            </a:extLst>
          </p:cNvPr>
          <p:cNvSpPr>
            <a:spLocks noChangeArrowheads="1"/>
          </p:cNvSpPr>
          <p:nvPr/>
        </p:nvSpPr>
        <p:spPr bwMode="auto">
          <a:xfrm>
            <a:off x="1832317" y="4891875"/>
            <a:ext cx="67067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Fare increases with distance</a:t>
            </a:r>
          </a:p>
        </p:txBody>
      </p:sp>
      <p:sp>
        <p:nvSpPr>
          <p:cNvPr id="8" name="TextBox 7">
            <a:extLst>
              <a:ext uri="{FF2B5EF4-FFF2-40B4-BE49-F238E27FC236}">
                <a16:creationId xmlns:a16="http://schemas.microsoft.com/office/drawing/2014/main" id="{E41EB13F-AC49-4242-B965-3A586F08C2EB}"/>
              </a:ext>
            </a:extLst>
          </p:cNvPr>
          <p:cNvSpPr txBox="1"/>
          <p:nvPr/>
        </p:nvSpPr>
        <p:spPr>
          <a:xfrm>
            <a:off x="1832316" y="4466884"/>
            <a:ext cx="6580163"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Price variation exists due to traffic and dynamic pricing</a:t>
            </a:r>
          </a:p>
        </p:txBody>
      </p:sp>
    </p:spTree>
    <p:extLst>
      <p:ext uri="{BB962C8B-B14F-4D97-AF65-F5344CB8AC3E}">
        <p14:creationId xmlns:p14="http://schemas.microsoft.com/office/powerpoint/2010/main" val="716022927"/>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83EAD3-00EC-403D-94FB-F8F6BA92F0F8}"/>
              </a:ext>
            </a:extLst>
          </p:cNvPr>
          <p:cNvSpPr txBox="1"/>
          <p:nvPr/>
        </p:nvSpPr>
        <p:spPr>
          <a:xfrm>
            <a:off x="2511083" y="314737"/>
            <a:ext cx="4572000"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Route Analysis</a:t>
            </a:r>
          </a:p>
        </p:txBody>
      </p:sp>
      <p:pic>
        <p:nvPicPr>
          <p:cNvPr id="5" name="Picture 4">
            <a:extLst>
              <a:ext uri="{FF2B5EF4-FFF2-40B4-BE49-F238E27FC236}">
                <a16:creationId xmlns:a16="http://schemas.microsoft.com/office/drawing/2014/main" id="{824CDEC7-E444-4468-B4F5-1E459FB06650}"/>
              </a:ext>
            </a:extLst>
          </p:cNvPr>
          <p:cNvPicPr>
            <a:picLocks noChangeAspect="1"/>
          </p:cNvPicPr>
          <p:nvPr/>
        </p:nvPicPr>
        <p:blipFill>
          <a:blip r:embed="rId2"/>
          <a:stretch>
            <a:fillRect/>
          </a:stretch>
        </p:blipFill>
        <p:spPr>
          <a:xfrm>
            <a:off x="393885" y="1084178"/>
            <a:ext cx="8356229" cy="3530025"/>
          </a:xfrm>
          <a:prstGeom prst="rect">
            <a:avLst/>
          </a:prstGeom>
        </p:spPr>
      </p:pic>
      <p:sp>
        <p:nvSpPr>
          <p:cNvPr id="7" name="TextBox 6">
            <a:extLst>
              <a:ext uri="{FF2B5EF4-FFF2-40B4-BE49-F238E27FC236}">
                <a16:creationId xmlns:a16="http://schemas.microsoft.com/office/drawing/2014/main" id="{AA06B4A1-257B-4DBC-99BD-59BE4F08834B}"/>
              </a:ext>
            </a:extLst>
          </p:cNvPr>
          <p:cNvSpPr txBox="1"/>
          <p:nvPr/>
        </p:nvSpPr>
        <p:spPr>
          <a:xfrm>
            <a:off x="710417" y="4914875"/>
            <a:ext cx="7842739"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lumMod val="95000"/>
                  </a:schemeClr>
                </a:solidFill>
                <a:latin typeface="Bodoni MT" panose="02070603080606020203" pitchFamily="18" charset="0"/>
              </a:rPr>
              <a:t>Few routes generate repeated demand</a:t>
            </a:r>
          </a:p>
          <a:p>
            <a:pPr marL="285750" indent="-285750">
              <a:buFont typeface="Arial" panose="020B0604020202020204" pitchFamily="34" charset="0"/>
              <a:buChar char="•"/>
            </a:pPr>
            <a:r>
              <a:rPr lang="en-IN" dirty="0">
                <a:solidFill>
                  <a:schemeClr val="bg1">
                    <a:lumMod val="95000"/>
                  </a:schemeClr>
                </a:solidFill>
                <a:latin typeface="Bodoni MT" panose="02070603080606020203" pitchFamily="18" charset="0"/>
              </a:rPr>
              <a:t>Pricing remains consistent across route distances</a:t>
            </a:r>
          </a:p>
        </p:txBody>
      </p:sp>
    </p:spTree>
    <p:extLst>
      <p:ext uri="{BB962C8B-B14F-4D97-AF65-F5344CB8AC3E}">
        <p14:creationId xmlns:p14="http://schemas.microsoft.com/office/powerpoint/2010/main" val="249440388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CF4340-7258-4955-B8A4-3918F69F5246}"/>
              </a:ext>
            </a:extLst>
          </p:cNvPr>
          <p:cNvSpPr txBox="1"/>
          <p:nvPr/>
        </p:nvSpPr>
        <p:spPr>
          <a:xfrm>
            <a:off x="1237956" y="258466"/>
            <a:ext cx="7188591"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Fare by Payment Method</a:t>
            </a:r>
          </a:p>
        </p:txBody>
      </p:sp>
      <p:pic>
        <p:nvPicPr>
          <p:cNvPr id="5" name="Picture 4">
            <a:extLst>
              <a:ext uri="{FF2B5EF4-FFF2-40B4-BE49-F238E27FC236}">
                <a16:creationId xmlns:a16="http://schemas.microsoft.com/office/drawing/2014/main" id="{99C4C29F-3675-4527-8522-82967BCA9A94}"/>
              </a:ext>
            </a:extLst>
          </p:cNvPr>
          <p:cNvPicPr>
            <a:picLocks noChangeAspect="1"/>
          </p:cNvPicPr>
          <p:nvPr/>
        </p:nvPicPr>
        <p:blipFill>
          <a:blip r:embed="rId2"/>
          <a:stretch>
            <a:fillRect/>
          </a:stretch>
        </p:blipFill>
        <p:spPr>
          <a:xfrm>
            <a:off x="1585495" y="1076529"/>
            <a:ext cx="5973009" cy="3553321"/>
          </a:xfrm>
          <a:prstGeom prst="rect">
            <a:avLst/>
          </a:prstGeom>
        </p:spPr>
      </p:pic>
      <p:sp>
        <p:nvSpPr>
          <p:cNvPr id="9" name="TextBox 8">
            <a:extLst>
              <a:ext uri="{FF2B5EF4-FFF2-40B4-BE49-F238E27FC236}">
                <a16:creationId xmlns:a16="http://schemas.microsoft.com/office/drawing/2014/main" id="{AE2F42A0-29A3-4D6A-9931-5A3363CDB225}"/>
              </a:ext>
            </a:extLst>
          </p:cNvPr>
          <p:cNvSpPr txBox="1"/>
          <p:nvPr/>
        </p:nvSpPr>
        <p:spPr>
          <a:xfrm>
            <a:off x="1237956" y="4849355"/>
            <a:ext cx="7188590"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Median fare is similar across all payment methods</a:t>
            </a:r>
          </a:p>
          <a:p>
            <a:r>
              <a:rPr lang="en-IN" dirty="0">
                <a:solidFill>
                  <a:schemeClr val="bg1">
                    <a:lumMod val="95000"/>
                  </a:schemeClr>
                </a:solidFill>
                <a:latin typeface="Bodoni MT" panose="02070603080606020203" pitchFamily="18" charset="0"/>
              </a:rPr>
              <a:t>• No significant pricing bias between UPI, cards, and cash</a:t>
            </a:r>
          </a:p>
          <a:p>
            <a:r>
              <a:rPr lang="en-IN" dirty="0">
                <a:solidFill>
                  <a:schemeClr val="bg1">
                    <a:lumMod val="95000"/>
                  </a:schemeClr>
                </a:solidFill>
                <a:latin typeface="Bodoni MT" panose="02070603080606020203" pitchFamily="18" charset="0"/>
              </a:rPr>
              <a:t>• High and low fare outliers exist for all payment types</a:t>
            </a:r>
          </a:p>
        </p:txBody>
      </p:sp>
    </p:spTree>
    <p:extLst>
      <p:ext uri="{BB962C8B-B14F-4D97-AF65-F5344CB8AC3E}">
        <p14:creationId xmlns:p14="http://schemas.microsoft.com/office/powerpoint/2010/main" val="108277529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06DF60-3B7A-47CF-B59C-9256D1A4A0F1}"/>
              </a:ext>
            </a:extLst>
          </p:cNvPr>
          <p:cNvSpPr txBox="1"/>
          <p:nvPr/>
        </p:nvSpPr>
        <p:spPr>
          <a:xfrm>
            <a:off x="858129" y="371009"/>
            <a:ext cx="7427741"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Route-Level Pricing Efficiency</a:t>
            </a:r>
          </a:p>
        </p:txBody>
      </p:sp>
      <p:pic>
        <p:nvPicPr>
          <p:cNvPr id="5" name="Picture 4">
            <a:extLst>
              <a:ext uri="{FF2B5EF4-FFF2-40B4-BE49-F238E27FC236}">
                <a16:creationId xmlns:a16="http://schemas.microsoft.com/office/drawing/2014/main" id="{9DC2B8E6-7E75-42E4-902E-6F41A96DDD5A}"/>
              </a:ext>
            </a:extLst>
          </p:cNvPr>
          <p:cNvPicPr>
            <a:picLocks noChangeAspect="1"/>
          </p:cNvPicPr>
          <p:nvPr/>
        </p:nvPicPr>
        <p:blipFill>
          <a:blip r:embed="rId2"/>
          <a:stretch>
            <a:fillRect/>
          </a:stretch>
        </p:blipFill>
        <p:spPr>
          <a:xfrm>
            <a:off x="2152217" y="1228418"/>
            <a:ext cx="4839564" cy="3504512"/>
          </a:xfrm>
          <a:prstGeom prst="rect">
            <a:avLst/>
          </a:prstGeom>
        </p:spPr>
      </p:pic>
      <p:sp>
        <p:nvSpPr>
          <p:cNvPr id="7" name="TextBox 6">
            <a:extLst>
              <a:ext uri="{FF2B5EF4-FFF2-40B4-BE49-F238E27FC236}">
                <a16:creationId xmlns:a16="http://schemas.microsoft.com/office/drawing/2014/main" id="{90D9BBF6-AE3C-4DE3-BFA5-6B90AA7AC33A}"/>
              </a:ext>
            </a:extLst>
          </p:cNvPr>
          <p:cNvSpPr txBox="1"/>
          <p:nvPr/>
        </p:nvSpPr>
        <p:spPr>
          <a:xfrm>
            <a:off x="1399742" y="4961578"/>
            <a:ext cx="7223759"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Fare generally increases with average route distance</a:t>
            </a:r>
          </a:p>
          <a:p>
            <a:r>
              <a:rPr lang="en-IN" dirty="0">
                <a:solidFill>
                  <a:schemeClr val="bg1">
                    <a:lumMod val="95000"/>
                  </a:schemeClr>
                </a:solidFill>
                <a:latin typeface="Bodoni MT" panose="02070603080606020203" pitchFamily="18" charset="0"/>
              </a:rPr>
              <a:t>• Some variation exists due to traffic and route complexity</a:t>
            </a:r>
          </a:p>
          <a:p>
            <a:r>
              <a:rPr lang="en-IN" dirty="0">
                <a:solidFill>
                  <a:schemeClr val="bg1">
                    <a:lumMod val="95000"/>
                  </a:schemeClr>
                </a:solidFill>
                <a:latin typeface="Bodoni MT" panose="02070603080606020203" pitchFamily="18" charset="0"/>
              </a:rPr>
              <a:t>• No abnormal overpricing detected across routes</a:t>
            </a:r>
          </a:p>
        </p:txBody>
      </p:sp>
    </p:spTree>
    <p:extLst>
      <p:ext uri="{BB962C8B-B14F-4D97-AF65-F5344CB8AC3E}">
        <p14:creationId xmlns:p14="http://schemas.microsoft.com/office/powerpoint/2010/main" val="426060579"/>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55E7E9-C83E-47B7-B81A-D2C910FF07A6}"/>
              </a:ext>
            </a:extLst>
          </p:cNvPr>
          <p:cNvSpPr txBox="1"/>
          <p:nvPr/>
        </p:nvSpPr>
        <p:spPr>
          <a:xfrm>
            <a:off x="1533378" y="258466"/>
            <a:ext cx="6576646"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Average Fare vs Distance</a:t>
            </a:r>
          </a:p>
        </p:txBody>
      </p:sp>
      <p:pic>
        <p:nvPicPr>
          <p:cNvPr id="5" name="Picture 4">
            <a:extLst>
              <a:ext uri="{FF2B5EF4-FFF2-40B4-BE49-F238E27FC236}">
                <a16:creationId xmlns:a16="http://schemas.microsoft.com/office/drawing/2014/main" id="{4B67C20E-C25A-42B6-8330-D7BDF8D9F131}"/>
              </a:ext>
            </a:extLst>
          </p:cNvPr>
          <p:cNvPicPr>
            <a:picLocks noChangeAspect="1"/>
          </p:cNvPicPr>
          <p:nvPr/>
        </p:nvPicPr>
        <p:blipFill>
          <a:blip r:embed="rId2"/>
          <a:stretch>
            <a:fillRect/>
          </a:stretch>
        </p:blipFill>
        <p:spPr>
          <a:xfrm>
            <a:off x="1167268" y="1223654"/>
            <a:ext cx="6809464" cy="3503091"/>
          </a:xfrm>
          <a:prstGeom prst="rect">
            <a:avLst/>
          </a:prstGeom>
        </p:spPr>
      </p:pic>
      <p:sp>
        <p:nvSpPr>
          <p:cNvPr id="9" name="TextBox 8">
            <a:extLst>
              <a:ext uri="{FF2B5EF4-FFF2-40B4-BE49-F238E27FC236}">
                <a16:creationId xmlns:a16="http://schemas.microsoft.com/office/drawing/2014/main" id="{DE4E73E5-7CF8-4F54-8869-4BAF90A89C07}"/>
              </a:ext>
            </a:extLst>
          </p:cNvPr>
          <p:cNvSpPr txBox="1"/>
          <p:nvPr/>
        </p:nvSpPr>
        <p:spPr>
          <a:xfrm>
            <a:off x="1167268" y="4922492"/>
            <a:ext cx="6942756"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Longer trips have higher average fares</a:t>
            </a:r>
          </a:p>
          <a:p>
            <a:r>
              <a:rPr lang="en-IN" dirty="0">
                <a:solidFill>
                  <a:schemeClr val="bg1">
                    <a:lumMod val="95000"/>
                  </a:schemeClr>
                </a:solidFill>
                <a:latin typeface="Bodoni MT" panose="02070603080606020203" pitchFamily="18" charset="0"/>
              </a:rPr>
              <a:t>• Fare variation reflects dynamic pricing conditions</a:t>
            </a:r>
          </a:p>
          <a:p>
            <a:r>
              <a:rPr lang="en-IN" dirty="0">
                <a:solidFill>
                  <a:schemeClr val="bg1">
                    <a:lumMod val="95000"/>
                  </a:schemeClr>
                </a:solidFill>
                <a:latin typeface="Bodoni MT" panose="02070603080606020203" pitchFamily="18" charset="0"/>
              </a:rPr>
              <a:t>• Distance is a key driver of trip pricing</a:t>
            </a:r>
          </a:p>
        </p:txBody>
      </p:sp>
    </p:spTree>
    <p:extLst>
      <p:ext uri="{BB962C8B-B14F-4D97-AF65-F5344CB8AC3E}">
        <p14:creationId xmlns:p14="http://schemas.microsoft.com/office/powerpoint/2010/main" val="1802232643"/>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60B639-740B-46AA-ADD1-D04B6A3D6061}"/>
              </a:ext>
            </a:extLst>
          </p:cNvPr>
          <p:cNvSpPr txBox="1"/>
          <p:nvPr/>
        </p:nvSpPr>
        <p:spPr>
          <a:xfrm>
            <a:off x="1041013" y="272534"/>
            <a:ext cx="8102991"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Fare Distribution by Distance</a:t>
            </a:r>
          </a:p>
        </p:txBody>
      </p:sp>
      <p:pic>
        <p:nvPicPr>
          <p:cNvPr id="5" name="Picture 4">
            <a:extLst>
              <a:ext uri="{FF2B5EF4-FFF2-40B4-BE49-F238E27FC236}">
                <a16:creationId xmlns:a16="http://schemas.microsoft.com/office/drawing/2014/main" id="{BD9A579E-CE50-4392-8238-1A43A288CA12}"/>
              </a:ext>
            </a:extLst>
          </p:cNvPr>
          <p:cNvPicPr>
            <a:picLocks noChangeAspect="1"/>
          </p:cNvPicPr>
          <p:nvPr/>
        </p:nvPicPr>
        <p:blipFill>
          <a:blip r:embed="rId2"/>
          <a:stretch>
            <a:fillRect/>
          </a:stretch>
        </p:blipFill>
        <p:spPr>
          <a:xfrm>
            <a:off x="1603717" y="1041975"/>
            <a:ext cx="6179659" cy="3834516"/>
          </a:xfrm>
          <a:prstGeom prst="rect">
            <a:avLst/>
          </a:prstGeom>
        </p:spPr>
      </p:pic>
      <p:sp>
        <p:nvSpPr>
          <p:cNvPr id="7" name="TextBox 6">
            <a:extLst>
              <a:ext uri="{FF2B5EF4-FFF2-40B4-BE49-F238E27FC236}">
                <a16:creationId xmlns:a16="http://schemas.microsoft.com/office/drawing/2014/main" id="{24AA4243-ED0D-43F7-B941-0DD007C4A053}"/>
              </a:ext>
            </a:extLst>
          </p:cNvPr>
          <p:cNvSpPr txBox="1"/>
          <p:nvPr/>
        </p:nvSpPr>
        <p:spPr>
          <a:xfrm>
            <a:off x="1470073" y="5045767"/>
            <a:ext cx="6801729"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Median fare increases gradually with distance</a:t>
            </a:r>
          </a:p>
          <a:p>
            <a:r>
              <a:rPr lang="en-IN" dirty="0">
                <a:solidFill>
                  <a:schemeClr val="bg1">
                    <a:lumMod val="95000"/>
                  </a:schemeClr>
                </a:solidFill>
                <a:latin typeface="Bodoni MT" panose="02070603080606020203" pitchFamily="18" charset="0"/>
              </a:rPr>
              <a:t>• Fare spread widens for longer trips</a:t>
            </a:r>
          </a:p>
          <a:p>
            <a:r>
              <a:rPr lang="en-IN" dirty="0">
                <a:solidFill>
                  <a:schemeClr val="bg1">
                    <a:lumMod val="95000"/>
                  </a:schemeClr>
                </a:solidFill>
                <a:latin typeface="Bodoni MT" panose="02070603080606020203" pitchFamily="18" charset="0"/>
              </a:rPr>
              <a:t>• Outliers represent premium or delayed rides</a:t>
            </a:r>
          </a:p>
        </p:txBody>
      </p:sp>
    </p:spTree>
    <p:extLst>
      <p:ext uri="{BB962C8B-B14F-4D97-AF65-F5344CB8AC3E}">
        <p14:creationId xmlns:p14="http://schemas.microsoft.com/office/powerpoint/2010/main" val="1314236411"/>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9D7592-1B4F-4801-A85B-8958ED4EA378}"/>
              </a:ext>
            </a:extLst>
          </p:cNvPr>
          <p:cNvSpPr txBox="1"/>
          <p:nvPr/>
        </p:nvSpPr>
        <p:spPr>
          <a:xfrm>
            <a:off x="1026942" y="159992"/>
            <a:ext cx="8215532" cy="1446550"/>
          </a:xfrm>
          <a:prstGeom prst="rect">
            <a:avLst/>
          </a:prstGeom>
          <a:noFill/>
        </p:spPr>
        <p:txBody>
          <a:bodyPr wrap="square">
            <a:spAutoFit/>
          </a:bodyPr>
          <a:lstStyle/>
          <a:p>
            <a:r>
              <a:rPr lang="en-US" sz="4400" dirty="0">
                <a:solidFill>
                  <a:schemeClr val="bg1">
                    <a:lumMod val="95000"/>
                  </a:schemeClr>
                </a:solidFill>
                <a:latin typeface="Bodoni MT" panose="02070603080606020203" pitchFamily="18" charset="0"/>
              </a:rPr>
              <a:t>Distance vs Fare by Customer Completion</a:t>
            </a:r>
            <a:endParaRPr lang="en-IN" sz="4400" dirty="0">
              <a:solidFill>
                <a:schemeClr val="bg1">
                  <a:lumMod val="95000"/>
                </a:schemeClr>
              </a:solidFill>
              <a:latin typeface="Bodoni MT" panose="02070603080606020203" pitchFamily="18" charset="0"/>
            </a:endParaRPr>
          </a:p>
        </p:txBody>
      </p:sp>
      <p:pic>
        <p:nvPicPr>
          <p:cNvPr id="5" name="Picture 4">
            <a:extLst>
              <a:ext uri="{FF2B5EF4-FFF2-40B4-BE49-F238E27FC236}">
                <a16:creationId xmlns:a16="http://schemas.microsoft.com/office/drawing/2014/main" id="{AC565E9B-212D-47FD-B56D-6C283BF46FA1}"/>
              </a:ext>
            </a:extLst>
          </p:cNvPr>
          <p:cNvPicPr>
            <a:picLocks noChangeAspect="1"/>
          </p:cNvPicPr>
          <p:nvPr/>
        </p:nvPicPr>
        <p:blipFill>
          <a:blip r:embed="rId2"/>
          <a:stretch>
            <a:fillRect/>
          </a:stretch>
        </p:blipFill>
        <p:spPr>
          <a:xfrm>
            <a:off x="2025747" y="1606542"/>
            <a:ext cx="4892846" cy="3427213"/>
          </a:xfrm>
          <a:prstGeom prst="rect">
            <a:avLst/>
          </a:prstGeom>
        </p:spPr>
      </p:pic>
      <p:sp>
        <p:nvSpPr>
          <p:cNvPr id="7" name="TextBox 6">
            <a:extLst>
              <a:ext uri="{FF2B5EF4-FFF2-40B4-BE49-F238E27FC236}">
                <a16:creationId xmlns:a16="http://schemas.microsoft.com/office/drawing/2014/main" id="{E909F653-FD38-439C-BCDC-1FB3112C8311}"/>
              </a:ext>
            </a:extLst>
          </p:cNvPr>
          <p:cNvSpPr txBox="1"/>
          <p:nvPr/>
        </p:nvSpPr>
        <p:spPr>
          <a:xfrm>
            <a:off x="1649436" y="5251458"/>
            <a:ext cx="6467621"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Completed trips exist across all distance ranges</a:t>
            </a:r>
          </a:p>
          <a:p>
            <a:r>
              <a:rPr lang="en-IN" dirty="0">
                <a:solidFill>
                  <a:schemeClr val="bg1">
                    <a:lumMod val="95000"/>
                  </a:schemeClr>
                </a:solidFill>
                <a:latin typeface="Bodoni MT" panose="02070603080606020203" pitchFamily="18" charset="0"/>
              </a:rPr>
              <a:t>• No clear cancellation bias for long-distance trips</a:t>
            </a:r>
          </a:p>
          <a:p>
            <a:r>
              <a:rPr lang="en-IN" dirty="0">
                <a:solidFill>
                  <a:schemeClr val="bg1">
                    <a:lumMod val="95000"/>
                  </a:schemeClr>
                </a:solidFill>
                <a:latin typeface="Bodoni MT" panose="02070603080606020203" pitchFamily="18" charset="0"/>
              </a:rPr>
              <a:t>• Customers are comfortable completing longer rides</a:t>
            </a:r>
          </a:p>
        </p:txBody>
      </p:sp>
    </p:spTree>
    <p:extLst>
      <p:ext uri="{BB962C8B-B14F-4D97-AF65-F5344CB8AC3E}">
        <p14:creationId xmlns:p14="http://schemas.microsoft.com/office/powerpoint/2010/main" val="3906351660"/>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339995-B176-4C3E-8F3F-21466277F9E4}"/>
              </a:ext>
            </a:extLst>
          </p:cNvPr>
          <p:cNvSpPr txBox="1"/>
          <p:nvPr/>
        </p:nvSpPr>
        <p:spPr>
          <a:xfrm>
            <a:off x="1378633" y="145925"/>
            <a:ext cx="7765367" cy="1446550"/>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Driver Trips vs Revenue vs Distance</a:t>
            </a:r>
          </a:p>
        </p:txBody>
      </p:sp>
      <p:pic>
        <p:nvPicPr>
          <p:cNvPr id="5" name="Picture 4">
            <a:extLst>
              <a:ext uri="{FF2B5EF4-FFF2-40B4-BE49-F238E27FC236}">
                <a16:creationId xmlns:a16="http://schemas.microsoft.com/office/drawing/2014/main" id="{8F5C8F18-0693-464C-B23B-7C8DED565B01}"/>
              </a:ext>
            </a:extLst>
          </p:cNvPr>
          <p:cNvPicPr>
            <a:picLocks noChangeAspect="1"/>
          </p:cNvPicPr>
          <p:nvPr/>
        </p:nvPicPr>
        <p:blipFill>
          <a:blip r:embed="rId2"/>
          <a:stretch>
            <a:fillRect/>
          </a:stretch>
        </p:blipFill>
        <p:spPr>
          <a:xfrm>
            <a:off x="2183622" y="1597522"/>
            <a:ext cx="4776755" cy="3459835"/>
          </a:xfrm>
          <a:prstGeom prst="rect">
            <a:avLst/>
          </a:prstGeom>
        </p:spPr>
      </p:pic>
      <p:sp>
        <p:nvSpPr>
          <p:cNvPr id="7" name="TextBox 6">
            <a:extLst>
              <a:ext uri="{FF2B5EF4-FFF2-40B4-BE49-F238E27FC236}">
                <a16:creationId xmlns:a16="http://schemas.microsoft.com/office/drawing/2014/main" id="{DECCE22D-F578-43D2-86E0-FE900D3D168C}"/>
              </a:ext>
            </a:extLst>
          </p:cNvPr>
          <p:cNvSpPr txBox="1"/>
          <p:nvPr/>
        </p:nvSpPr>
        <p:spPr>
          <a:xfrm>
            <a:off x="1920239" y="5224307"/>
            <a:ext cx="5732585"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Revenue increases with number of trips completed</a:t>
            </a:r>
          </a:p>
          <a:p>
            <a:r>
              <a:rPr lang="en-IN" dirty="0">
                <a:solidFill>
                  <a:schemeClr val="bg1">
                    <a:lumMod val="95000"/>
                  </a:schemeClr>
                </a:solidFill>
                <a:latin typeface="Bodoni MT" panose="02070603080606020203" pitchFamily="18" charset="0"/>
              </a:rPr>
              <a:t>• Some drivers earn more with fewer long-distance trips</a:t>
            </a:r>
          </a:p>
          <a:p>
            <a:r>
              <a:rPr lang="en-IN" dirty="0">
                <a:solidFill>
                  <a:schemeClr val="bg1">
                    <a:lumMod val="95000"/>
                  </a:schemeClr>
                </a:solidFill>
                <a:latin typeface="Bodoni MT" panose="02070603080606020203" pitchFamily="18" charset="0"/>
              </a:rPr>
              <a:t>• Earnings depend on both trip volume and distance</a:t>
            </a:r>
          </a:p>
        </p:txBody>
      </p:sp>
    </p:spTree>
    <p:extLst>
      <p:ext uri="{BB962C8B-B14F-4D97-AF65-F5344CB8AC3E}">
        <p14:creationId xmlns:p14="http://schemas.microsoft.com/office/powerpoint/2010/main" val="2743410884"/>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C523AF-C3D2-4532-B887-7B5B608A9D8A}"/>
              </a:ext>
            </a:extLst>
          </p:cNvPr>
          <p:cNvSpPr txBox="1"/>
          <p:nvPr/>
        </p:nvSpPr>
        <p:spPr>
          <a:xfrm>
            <a:off x="1987061" y="328805"/>
            <a:ext cx="5169877" cy="769441"/>
          </a:xfrm>
          <a:prstGeom prst="rect">
            <a:avLst/>
          </a:prstGeom>
          <a:noFill/>
        </p:spPr>
        <p:txBody>
          <a:bodyPr wrap="square">
            <a:spAutoFit/>
          </a:bodyPr>
          <a:lstStyle/>
          <a:p>
            <a:r>
              <a:rPr lang="en-IN" sz="4400" dirty="0">
                <a:solidFill>
                  <a:schemeClr val="bg1">
                    <a:lumMod val="95000"/>
                  </a:schemeClr>
                </a:solidFill>
                <a:latin typeface="Bodoni MT" panose="02070603080606020203" pitchFamily="18" charset="0"/>
              </a:rPr>
              <a:t>Correlation Analysis</a:t>
            </a:r>
          </a:p>
        </p:txBody>
      </p:sp>
      <p:pic>
        <p:nvPicPr>
          <p:cNvPr id="5" name="Picture 4">
            <a:extLst>
              <a:ext uri="{FF2B5EF4-FFF2-40B4-BE49-F238E27FC236}">
                <a16:creationId xmlns:a16="http://schemas.microsoft.com/office/drawing/2014/main" id="{D20B5781-AE20-4F79-8763-EA78DBE4D87E}"/>
              </a:ext>
            </a:extLst>
          </p:cNvPr>
          <p:cNvPicPr>
            <a:picLocks noChangeAspect="1"/>
          </p:cNvPicPr>
          <p:nvPr/>
        </p:nvPicPr>
        <p:blipFill>
          <a:blip r:embed="rId2"/>
          <a:stretch>
            <a:fillRect/>
          </a:stretch>
        </p:blipFill>
        <p:spPr>
          <a:xfrm>
            <a:off x="2143305" y="1197515"/>
            <a:ext cx="4857390" cy="3768367"/>
          </a:xfrm>
          <a:prstGeom prst="rect">
            <a:avLst/>
          </a:prstGeom>
        </p:spPr>
      </p:pic>
      <p:sp>
        <p:nvSpPr>
          <p:cNvPr id="7" name="TextBox 6">
            <a:extLst>
              <a:ext uri="{FF2B5EF4-FFF2-40B4-BE49-F238E27FC236}">
                <a16:creationId xmlns:a16="http://schemas.microsoft.com/office/drawing/2014/main" id="{9FB636F9-2841-4A4D-8263-25903C081AC0}"/>
              </a:ext>
            </a:extLst>
          </p:cNvPr>
          <p:cNvSpPr txBox="1"/>
          <p:nvPr/>
        </p:nvSpPr>
        <p:spPr>
          <a:xfrm>
            <a:off x="1987060" y="5128690"/>
            <a:ext cx="5496951" cy="923330"/>
          </a:xfrm>
          <a:prstGeom prst="rect">
            <a:avLst/>
          </a:prstGeom>
          <a:noFill/>
        </p:spPr>
        <p:txBody>
          <a:bodyPr wrap="square">
            <a:spAutoFit/>
          </a:bodyPr>
          <a:lstStyle/>
          <a:p>
            <a:r>
              <a:rPr lang="en-IN" dirty="0">
                <a:solidFill>
                  <a:schemeClr val="bg1">
                    <a:lumMod val="95000"/>
                  </a:schemeClr>
                </a:solidFill>
                <a:latin typeface="Bodoni MT" panose="02070603080606020203" pitchFamily="18" charset="0"/>
              </a:rPr>
              <a:t>• Fare per km decreases as distance increases</a:t>
            </a:r>
          </a:p>
          <a:p>
            <a:r>
              <a:rPr lang="en-IN" dirty="0">
                <a:solidFill>
                  <a:schemeClr val="bg1">
                    <a:lumMod val="95000"/>
                  </a:schemeClr>
                </a:solidFill>
                <a:latin typeface="Bodoni MT" panose="02070603080606020203" pitchFamily="18" charset="0"/>
              </a:rPr>
              <a:t>• Fare has moderate correlation with fare per km</a:t>
            </a:r>
          </a:p>
          <a:p>
            <a:r>
              <a:rPr lang="en-IN" dirty="0">
                <a:solidFill>
                  <a:schemeClr val="bg1">
                    <a:lumMod val="95000"/>
                  </a:schemeClr>
                </a:solidFill>
                <a:latin typeface="Bodoni MT" panose="02070603080606020203" pitchFamily="18" charset="0"/>
              </a:rPr>
              <a:t>• No strong bias across drivers or customers</a:t>
            </a:r>
          </a:p>
        </p:txBody>
      </p:sp>
    </p:spTree>
    <p:extLst>
      <p:ext uri="{BB962C8B-B14F-4D97-AF65-F5344CB8AC3E}">
        <p14:creationId xmlns:p14="http://schemas.microsoft.com/office/powerpoint/2010/main" val="2006843424"/>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81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F3DBD93-D814-4B9F-8149-DEC3F206DEA2}"/>
                  </a:ext>
                </a:extLst>
              </p:cNvPr>
              <p:cNvGraphicFramePr>
                <a:graphicFrameLocks noChangeAspect="1"/>
              </p:cNvGraphicFramePr>
              <p:nvPr/>
            </p:nvGraphicFramePr>
            <p:xfrm>
              <a:off x="837630" y="948520"/>
              <a:ext cx="1433015" cy="1074761"/>
            </p:xfrm>
            <a:graphic>
              <a:graphicData uri="http://schemas.microsoft.com/office/powerpoint/2016/slidezoom">
                <pslz:sldZm>
                  <pslz:sldZmObj sldId="256" cId="0">
                    <pslz:zmPr id="{55B4A315-DC2F-438C-A8E7-EB8ED2ED5570}" returnToParent="0" transitionDur="1000">
                      <p166:blipFill xmlns:p166="http://schemas.microsoft.com/office/powerpoint/2016/6/main">
                        <a:blip r:embed="rId2"/>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2F3DBD93-D814-4B9F-8149-DEC3F206DEA2}"/>
                  </a:ext>
                </a:extLst>
              </p:cNvPr>
              <p:cNvPicPr>
                <a:picLocks noGrp="1" noRot="1" noChangeAspect="1" noMove="1" noResize="1" noEditPoints="1" noAdjustHandles="1" noChangeArrowheads="1" noChangeShapeType="1"/>
              </p:cNvPicPr>
              <p:nvPr/>
            </p:nvPicPr>
            <p:blipFill>
              <a:blip r:embed="rId4"/>
              <a:stretch>
                <a:fillRect/>
              </a:stretch>
            </p:blipFill>
            <p:spPr>
              <a:xfrm>
                <a:off x="837630" y="948520"/>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9DEA19E9-B838-47B6-92D2-8312F78BC91D}"/>
                  </a:ext>
                </a:extLst>
              </p:cNvPr>
              <p:cNvGraphicFramePr>
                <a:graphicFrameLocks noChangeAspect="1"/>
              </p:cNvGraphicFramePr>
              <p:nvPr/>
            </p:nvGraphicFramePr>
            <p:xfrm>
              <a:off x="3301903" y="594956"/>
              <a:ext cx="1433015" cy="1074761"/>
            </p:xfrm>
            <a:graphic>
              <a:graphicData uri="http://schemas.microsoft.com/office/powerpoint/2016/slidezoom">
                <pslz:sldZm>
                  <pslz:sldZmObj sldId="262" cId="0">
                    <pslz:zmPr id="{02BA28DE-2590-45EA-9A9C-87B7392605EE}" returnToParent="0" transitionDur="1000">
                      <p166:blipFill xmlns:p166="http://schemas.microsoft.com/office/powerpoint/2016/6/main">
                        <a:blip r:embed="rId5"/>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0" name="Slide Zoom 9">
                <a:hlinkClick r:id="rId6" action="ppaction://hlinksldjump"/>
                <a:extLst>
                  <a:ext uri="{FF2B5EF4-FFF2-40B4-BE49-F238E27FC236}">
                    <a16:creationId xmlns:a16="http://schemas.microsoft.com/office/drawing/2014/main" id="{9DEA19E9-B838-47B6-92D2-8312F78BC91D}"/>
                  </a:ext>
                </a:extLst>
              </p:cNvPr>
              <p:cNvPicPr>
                <a:picLocks noGrp="1" noRot="1" noChangeAspect="1" noMove="1" noResize="1" noEditPoints="1" noAdjustHandles="1" noChangeArrowheads="1" noChangeShapeType="1"/>
              </p:cNvPicPr>
              <p:nvPr/>
            </p:nvPicPr>
            <p:blipFill>
              <a:blip r:embed="rId7"/>
              <a:stretch>
                <a:fillRect/>
              </a:stretch>
            </p:blipFill>
            <p:spPr>
              <a:xfrm>
                <a:off x="3301903" y="594956"/>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778E3D90-C2D0-4200-83B1-CA97AE8804DE}"/>
                  </a:ext>
                </a:extLst>
              </p:cNvPr>
              <p:cNvGraphicFramePr>
                <a:graphicFrameLocks noChangeAspect="1"/>
              </p:cNvGraphicFramePr>
              <p:nvPr/>
            </p:nvGraphicFramePr>
            <p:xfrm>
              <a:off x="5766176" y="893929"/>
              <a:ext cx="1433015" cy="1074761"/>
            </p:xfrm>
            <a:graphic>
              <a:graphicData uri="http://schemas.microsoft.com/office/powerpoint/2016/slidezoom">
                <pslz:sldZm>
                  <pslz:sldZmObj sldId="274" cId="922276391">
                    <pslz:zmPr id="{6C31A585-0A28-4F36-ABBF-4C2389ED7F8F}" returnToParent="0" transitionDur="1000">
                      <p166:blipFill xmlns:p166="http://schemas.microsoft.com/office/powerpoint/2016/6/main">
                        <a:blip r:embed="rId8"/>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2" name="Slide Zoom 11">
                <a:hlinkClick r:id="rId9" action="ppaction://hlinksldjump"/>
                <a:extLst>
                  <a:ext uri="{FF2B5EF4-FFF2-40B4-BE49-F238E27FC236}">
                    <a16:creationId xmlns:a16="http://schemas.microsoft.com/office/drawing/2014/main" id="{778E3D90-C2D0-4200-83B1-CA97AE8804DE}"/>
                  </a:ext>
                </a:extLst>
              </p:cNvPr>
              <p:cNvPicPr>
                <a:picLocks noGrp="1" noRot="1" noChangeAspect="1" noMove="1" noResize="1" noEditPoints="1" noAdjustHandles="1" noChangeArrowheads="1" noChangeShapeType="1"/>
              </p:cNvPicPr>
              <p:nvPr/>
            </p:nvPicPr>
            <p:blipFill>
              <a:blip r:embed="rId10"/>
              <a:stretch>
                <a:fillRect/>
              </a:stretch>
            </p:blipFill>
            <p:spPr>
              <a:xfrm>
                <a:off x="5766176" y="893929"/>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7724042-5256-4DB7-B8D1-77F4C355B229}"/>
                  </a:ext>
                </a:extLst>
              </p:cNvPr>
              <p:cNvGraphicFramePr>
                <a:graphicFrameLocks noChangeAspect="1"/>
              </p:cNvGraphicFramePr>
              <p:nvPr/>
            </p:nvGraphicFramePr>
            <p:xfrm>
              <a:off x="1187784" y="5426692"/>
              <a:ext cx="1433016" cy="1074762"/>
            </p:xfrm>
            <a:graphic>
              <a:graphicData uri="http://schemas.microsoft.com/office/powerpoint/2016/slidezoom">
                <pslz:sldZm>
                  <pslz:sldZmObj sldId="265" cId="4215375714">
                    <pslz:zmPr id="{E4A24BE7-2370-4FB1-A388-13BF1DE044C8}" returnToParent="0" transitionDur="1000">
                      <p166:blipFill xmlns:p166="http://schemas.microsoft.com/office/powerpoint/2016/6/main">
                        <a:blip r:embed="rId11"/>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4" name="Slide Zoom 13">
                <a:hlinkClick r:id="rId12" action="ppaction://hlinksldjump"/>
                <a:extLst>
                  <a:ext uri="{FF2B5EF4-FFF2-40B4-BE49-F238E27FC236}">
                    <a16:creationId xmlns:a16="http://schemas.microsoft.com/office/drawing/2014/main" id="{57724042-5256-4DB7-B8D1-77F4C355B229}"/>
                  </a:ext>
                </a:extLst>
              </p:cNvPr>
              <p:cNvPicPr>
                <a:picLocks noGrp="1" noRot="1" noChangeAspect="1" noMove="1" noResize="1" noEditPoints="1" noAdjustHandles="1" noChangeArrowheads="1" noChangeShapeType="1"/>
              </p:cNvPicPr>
              <p:nvPr/>
            </p:nvPicPr>
            <p:blipFill>
              <a:blip r:embed="rId13"/>
              <a:stretch>
                <a:fillRect/>
              </a:stretch>
            </p:blipFill>
            <p:spPr>
              <a:xfrm>
                <a:off x="1187784" y="5426692"/>
                <a:ext cx="1433016" cy="1074762"/>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417DA442-5F2F-4206-870D-A0BA4D50B751}"/>
                  </a:ext>
                </a:extLst>
              </p:cNvPr>
              <p:cNvGraphicFramePr>
                <a:graphicFrameLocks noChangeAspect="1"/>
              </p:cNvGraphicFramePr>
              <p:nvPr/>
            </p:nvGraphicFramePr>
            <p:xfrm>
              <a:off x="4734918" y="4889311"/>
              <a:ext cx="1433016" cy="1074762"/>
            </p:xfrm>
            <a:graphic>
              <a:graphicData uri="http://schemas.microsoft.com/office/powerpoint/2016/slidezoom">
                <pslz:sldZm>
                  <pslz:sldZmObj sldId="268" cId="3056007323">
                    <pslz:zmPr id="{AA1A169A-BD04-4C69-B25A-406BEEC069C9}" returnToParent="0" transitionDur="1000">
                      <p166:blipFill xmlns:p166="http://schemas.microsoft.com/office/powerpoint/2016/6/main">
                        <a:blip r:embed="rId14"/>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6" name="Slide Zoom 15">
                <a:hlinkClick r:id="rId15" action="ppaction://hlinksldjump"/>
                <a:extLst>
                  <a:ext uri="{FF2B5EF4-FFF2-40B4-BE49-F238E27FC236}">
                    <a16:creationId xmlns:a16="http://schemas.microsoft.com/office/drawing/2014/main" id="{417DA442-5F2F-4206-870D-A0BA4D50B751}"/>
                  </a:ext>
                </a:extLst>
              </p:cNvPr>
              <p:cNvPicPr>
                <a:picLocks noGrp="1" noRot="1" noChangeAspect="1" noMove="1" noResize="1" noEditPoints="1" noAdjustHandles="1" noChangeArrowheads="1" noChangeShapeType="1"/>
              </p:cNvPicPr>
              <p:nvPr/>
            </p:nvPicPr>
            <p:blipFill>
              <a:blip r:embed="rId16"/>
              <a:stretch>
                <a:fillRect/>
              </a:stretch>
            </p:blipFill>
            <p:spPr>
              <a:xfrm>
                <a:off x="4734918" y="4889311"/>
                <a:ext cx="1433016" cy="1074762"/>
              </a:xfrm>
              <a:prstGeom prst="rect">
                <a:avLst/>
              </a:prstGeom>
              <a:effectLst>
                <a:softEdge rad="63500"/>
              </a:effectLst>
            </p:spPr>
          </p:pic>
        </mc:Fallback>
      </mc:AlternateContent>
      <p:cxnSp>
        <p:nvCxnSpPr>
          <p:cNvPr id="21" name="Connector: Elbow 20">
            <a:extLst>
              <a:ext uri="{FF2B5EF4-FFF2-40B4-BE49-F238E27FC236}">
                <a16:creationId xmlns:a16="http://schemas.microsoft.com/office/drawing/2014/main" id="{398519EA-E18F-43B5-A398-F9CB2C4E5BB2}"/>
              </a:ext>
            </a:extLst>
          </p:cNvPr>
          <p:cNvCxnSpPr/>
          <p:nvPr/>
        </p:nvCxnSpPr>
        <p:spPr>
          <a:xfrm rot="5400000" flipH="1" flipV="1">
            <a:off x="516056" y="2344856"/>
            <a:ext cx="1047465" cy="4043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B285023-AF83-4C89-A7B1-27244E067E3A}"/>
              </a:ext>
            </a:extLst>
          </p:cNvPr>
          <p:cNvCxnSpPr/>
          <p:nvPr/>
        </p:nvCxnSpPr>
        <p:spPr>
          <a:xfrm rot="5400000" flipH="1" flipV="1">
            <a:off x="3283351" y="1811955"/>
            <a:ext cx="877297" cy="5928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D2F7B90-4354-4414-9896-B05872D8EB79}"/>
              </a:ext>
            </a:extLst>
          </p:cNvPr>
          <p:cNvCxnSpPr/>
          <p:nvPr/>
        </p:nvCxnSpPr>
        <p:spPr>
          <a:xfrm flipV="1">
            <a:off x="4572000" y="1669717"/>
            <a:ext cx="1181036" cy="713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B9430625-E8CC-45B6-99F5-9C044E802AC3}"/>
              </a:ext>
            </a:extLst>
          </p:cNvPr>
          <p:cNvCxnSpPr/>
          <p:nvPr/>
        </p:nvCxnSpPr>
        <p:spPr>
          <a:xfrm rot="16200000" flipH="1">
            <a:off x="885060" y="4669580"/>
            <a:ext cx="1091393" cy="3776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836EE5DD-AE6E-4623-A10F-12286F2647D3}"/>
              </a:ext>
            </a:extLst>
          </p:cNvPr>
          <p:cNvCxnSpPr/>
          <p:nvPr/>
        </p:nvCxnSpPr>
        <p:spPr>
          <a:xfrm>
            <a:off x="3603009" y="4203510"/>
            <a:ext cx="1131909" cy="8871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58D9B1B-9A8F-408D-A909-15B62CAE5FCA}"/>
              </a:ext>
            </a:extLst>
          </p:cNvPr>
          <p:cNvSpPr txBox="1"/>
          <p:nvPr/>
        </p:nvSpPr>
        <p:spPr>
          <a:xfrm>
            <a:off x="709684" y="594956"/>
            <a:ext cx="1719617"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Introduction</a:t>
            </a:r>
            <a:endParaRPr lang="en-IN" dirty="0">
              <a:solidFill>
                <a:schemeClr val="accent1">
                  <a:lumMod val="50000"/>
                </a:schemeClr>
              </a:solidFill>
              <a:latin typeface="Arial Rounded MT Bold" panose="020F0704030504030204" pitchFamily="34" charset="0"/>
            </a:endParaRPr>
          </a:p>
        </p:txBody>
      </p:sp>
      <p:sp>
        <p:nvSpPr>
          <p:cNvPr id="34" name="TextBox 33">
            <a:extLst>
              <a:ext uri="{FF2B5EF4-FFF2-40B4-BE49-F238E27FC236}">
                <a16:creationId xmlns:a16="http://schemas.microsoft.com/office/drawing/2014/main" id="{CA773B32-90D3-47BD-9983-0261038E676C}"/>
              </a:ext>
            </a:extLst>
          </p:cNvPr>
          <p:cNvSpPr txBox="1"/>
          <p:nvPr/>
        </p:nvSpPr>
        <p:spPr>
          <a:xfrm>
            <a:off x="3330053" y="19733"/>
            <a:ext cx="1719617" cy="646331"/>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Dashboard</a:t>
            </a:r>
            <a:endParaRPr lang="en-IN" dirty="0">
              <a:solidFill>
                <a:schemeClr val="accent1">
                  <a:lumMod val="50000"/>
                </a:schemeClr>
              </a:solidFill>
              <a:latin typeface="Arial Rounded MT Bold" panose="020F0704030504030204" pitchFamily="34" charset="0"/>
            </a:endParaRPr>
          </a:p>
        </p:txBody>
      </p:sp>
      <p:sp>
        <p:nvSpPr>
          <p:cNvPr id="35" name="TextBox 34">
            <a:extLst>
              <a:ext uri="{FF2B5EF4-FFF2-40B4-BE49-F238E27FC236}">
                <a16:creationId xmlns:a16="http://schemas.microsoft.com/office/drawing/2014/main" id="{19AA11E6-0056-4D60-A7E2-EBF0B986EE72}"/>
              </a:ext>
            </a:extLst>
          </p:cNvPr>
          <p:cNvSpPr txBox="1"/>
          <p:nvPr/>
        </p:nvSpPr>
        <p:spPr>
          <a:xfrm>
            <a:off x="5766176" y="567660"/>
            <a:ext cx="133066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EDA</a:t>
            </a:r>
            <a:endParaRPr lang="en-IN" dirty="0">
              <a:solidFill>
                <a:schemeClr val="accent1">
                  <a:lumMod val="50000"/>
                </a:schemeClr>
              </a:solidFill>
              <a:latin typeface="Arial Rounded MT Bold" panose="020F0704030504030204" pitchFamily="34" charset="0"/>
            </a:endParaRPr>
          </a:p>
        </p:txBody>
      </p:sp>
      <p:sp>
        <p:nvSpPr>
          <p:cNvPr id="36" name="TextBox 35">
            <a:extLst>
              <a:ext uri="{FF2B5EF4-FFF2-40B4-BE49-F238E27FC236}">
                <a16:creationId xmlns:a16="http://schemas.microsoft.com/office/drawing/2014/main" id="{0C5E00C7-9775-4C3E-8F76-6B47E02160E4}"/>
              </a:ext>
            </a:extLst>
          </p:cNvPr>
          <p:cNvSpPr txBox="1"/>
          <p:nvPr/>
        </p:nvSpPr>
        <p:spPr>
          <a:xfrm>
            <a:off x="982637" y="6474158"/>
            <a:ext cx="195163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SQL</a:t>
            </a:r>
            <a:endParaRPr lang="en-IN" dirty="0">
              <a:solidFill>
                <a:schemeClr val="accent1">
                  <a:lumMod val="50000"/>
                </a:schemeClr>
              </a:solidFill>
              <a:latin typeface="Arial Rounded MT Bold" panose="020F0704030504030204" pitchFamily="34" charset="0"/>
            </a:endParaRPr>
          </a:p>
        </p:txBody>
      </p:sp>
      <p:sp>
        <p:nvSpPr>
          <p:cNvPr id="37" name="TextBox 36">
            <a:extLst>
              <a:ext uri="{FF2B5EF4-FFF2-40B4-BE49-F238E27FC236}">
                <a16:creationId xmlns:a16="http://schemas.microsoft.com/office/drawing/2014/main" id="{99C7AB09-8CCB-4EF3-9F2E-0867812E3A75}"/>
              </a:ext>
            </a:extLst>
          </p:cNvPr>
          <p:cNvSpPr txBox="1"/>
          <p:nvPr/>
        </p:nvSpPr>
        <p:spPr>
          <a:xfrm>
            <a:off x="4693974" y="6045957"/>
            <a:ext cx="1529404"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Insights</a:t>
            </a:r>
            <a:endParaRPr lang="en-IN" dirty="0">
              <a:solidFill>
                <a:schemeClr val="accent1">
                  <a:lumMod val="50000"/>
                </a:schemeClr>
              </a:solidFill>
              <a:latin typeface="Arial Rounded MT Bold" panose="020F0704030504030204" pitchFamily="34" charset="0"/>
            </a:endParaRPr>
          </a:p>
        </p:txBody>
      </p:sp>
      <p:pic>
        <p:nvPicPr>
          <p:cNvPr id="38" name="Picture 37">
            <a:extLst>
              <a:ext uri="{FF2B5EF4-FFF2-40B4-BE49-F238E27FC236}">
                <a16:creationId xmlns:a16="http://schemas.microsoft.com/office/drawing/2014/main" id="{821BB080-B721-4613-97E2-A60ADCB2902D}"/>
              </a:ext>
            </a:extLst>
          </p:cNvPr>
          <p:cNvPicPr>
            <a:picLocks noChangeAspect="1"/>
          </p:cNvPicPr>
          <p:nvPr/>
        </p:nvPicPr>
        <p:blipFill>
          <a:blip r:embed="rId17">
            <a:extLst>
              <a:ext uri="{BEBA8EAE-BF5A-486C-A8C5-ECC9F3942E4B}">
                <a14:imgProps xmlns:a14="http://schemas.microsoft.com/office/drawing/2010/main">
                  <a14:imgLayer r:embed="rId18">
                    <a14:imgEffect>
                      <a14:artisticTexturizer/>
                    </a14:imgEffect>
                  </a14:imgLayer>
                </a14:imgProps>
              </a:ext>
            </a:extLst>
          </a:blip>
          <a:stretch>
            <a:fillRect/>
          </a:stretch>
        </p:blipFill>
        <p:spPr>
          <a:xfrm>
            <a:off x="-235080" y="-104776"/>
            <a:ext cx="10501258" cy="7094847"/>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Tree>
    <p:extLst>
      <p:ext uri="{BB962C8B-B14F-4D97-AF65-F5344CB8AC3E}">
        <p14:creationId xmlns:p14="http://schemas.microsoft.com/office/powerpoint/2010/main" val="5854011"/>
      </p:ext>
    </p:extLst>
  </p:cSld>
  <p:clrMapOvr>
    <a:masterClrMapping/>
  </p:clrMapOvr>
  <mc:AlternateContent xmlns:mc="http://schemas.openxmlformats.org/markup-compatibility/2006" xmlns:p14="http://schemas.microsoft.com/office/powerpoint/2010/main">
    <mc:Choice Requires="p14">
      <p:transition spd="slow" p14:dur="1500">
        <p14:flythrough dir="ou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99D4A8-4976-4102-A2D3-9BCCD3D48248}"/>
              </a:ext>
            </a:extLst>
          </p:cNvPr>
          <p:cNvSpPr txBox="1"/>
          <p:nvPr/>
        </p:nvSpPr>
        <p:spPr>
          <a:xfrm>
            <a:off x="5146766" y="1018904"/>
            <a:ext cx="3344091" cy="1446550"/>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Purpose of SQL Script</a:t>
            </a:r>
            <a:endParaRPr lang="en-IN" sz="4400" dirty="0">
              <a:solidFill>
                <a:schemeClr val="bg1">
                  <a:lumMod val="95000"/>
                </a:schemeClr>
              </a:solidFill>
              <a:latin typeface="Bodoni MT" panose="02070603080606020203" pitchFamily="18" charset="0"/>
            </a:endParaRPr>
          </a:p>
        </p:txBody>
      </p:sp>
      <p:sp>
        <p:nvSpPr>
          <p:cNvPr id="6" name="TextBox 5">
            <a:extLst>
              <a:ext uri="{FF2B5EF4-FFF2-40B4-BE49-F238E27FC236}">
                <a16:creationId xmlns:a16="http://schemas.microsoft.com/office/drawing/2014/main" id="{F6F2FA64-05C8-426E-9E8F-2A57760629A2}"/>
              </a:ext>
            </a:extLst>
          </p:cNvPr>
          <p:cNvSpPr txBox="1"/>
          <p:nvPr/>
        </p:nvSpPr>
        <p:spPr>
          <a:xfrm>
            <a:off x="5199018" y="2860764"/>
            <a:ext cx="3344091" cy="2308324"/>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Sql scripts are utilized to extract, transform, and load data into a structured format, ensuring accuracy and readiness for analysis. These are scripts are critical in maintaining data integrity across various sources for the dashboard.</a:t>
            </a:r>
            <a:endParaRPr lang="en-IN" dirty="0">
              <a:solidFill>
                <a:schemeClr val="bg1">
                  <a:lumMod val="95000"/>
                </a:schemeClr>
              </a:solidFill>
              <a:latin typeface="Bodoni MT" panose="02070603080606020203" pitchFamily="18" charset="0"/>
            </a:endParaRPr>
          </a:p>
        </p:txBody>
      </p:sp>
      <p:pic>
        <p:nvPicPr>
          <p:cNvPr id="16" name="Picture 15">
            <a:extLst>
              <a:ext uri="{FF2B5EF4-FFF2-40B4-BE49-F238E27FC236}">
                <a16:creationId xmlns:a16="http://schemas.microsoft.com/office/drawing/2014/main" id="{5C0FD18B-638B-4127-BCA6-A7144A144E03}"/>
              </a:ext>
            </a:extLst>
          </p:cNvPr>
          <p:cNvPicPr>
            <a:picLocks noChangeAspect="1"/>
          </p:cNvPicPr>
          <p:nvPr/>
        </p:nvPicPr>
        <p:blipFill>
          <a:blip r:embed="rId2"/>
          <a:stretch>
            <a:fillRect/>
          </a:stretch>
        </p:blipFill>
        <p:spPr>
          <a:xfrm>
            <a:off x="300447" y="2202133"/>
            <a:ext cx="2012120" cy="1317262"/>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DE29123B-1644-4DDC-AC0A-F6255ACB1CF8}"/>
              </a:ext>
            </a:extLst>
          </p:cNvPr>
          <p:cNvPicPr>
            <a:picLocks noChangeAspect="1"/>
          </p:cNvPicPr>
          <p:nvPr/>
        </p:nvPicPr>
        <p:blipFill>
          <a:blip r:embed="rId3"/>
          <a:stretch>
            <a:fillRect/>
          </a:stretch>
        </p:blipFill>
        <p:spPr>
          <a:xfrm>
            <a:off x="2351756" y="2202133"/>
            <a:ext cx="2012120" cy="1317262"/>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18591B58-1D53-43F8-B414-A958D9A44134}"/>
              </a:ext>
            </a:extLst>
          </p:cNvPr>
          <p:cNvPicPr>
            <a:picLocks noChangeAspect="1"/>
          </p:cNvPicPr>
          <p:nvPr/>
        </p:nvPicPr>
        <p:blipFill>
          <a:blip r:embed="rId4"/>
          <a:stretch>
            <a:fillRect/>
          </a:stretch>
        </p:blipFill>
        <p:spPr>
          <a:xfrm>
            <a:off x="300445" y="3641382"/>
            <a:ext cx="2012122" cy="1318699"/>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0D6D03AF-052B-4F24-966C-443B54644E8E}"/>
              </a:ext>
            </a:extLst>
          </p:cNvPr>
          <p:cNvPicPr>
            <a:picLocks noChangeAspect="1"/>
          </p:cNvPicPr>
          <p:nvPr/>
        </p:nvPicPr>
        <p:blipFill>
          <a:blip r:embed="rId5"/>
          <a:stretch>
            <a:fillRect/>
          </a:stretch>
        </p:blipFill>
        <p:spPr>
          <a:xfrm>
            <a:off x="2345468" y="3638901"/>
            <a:ext cx="2012120" cy="13211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15375714"/>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801E90-9C29-445B-9808-B85843364F42}"/>
              </a:ext>
            </a:extLst>
          </p:cNvPr>
          <p:cNvSpPr txBox="1"/>
          <p:nvPr/>
        </p:nvSpPr>
        <p:spPr>
          <a:xfrm>
            <a:off x="496382" y="1071159"/>
            <a:ext cx="4036423" cy="1463040"/>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Data Processing Steps</a:t>
            </a:r>
            <a:endParaRPr lang="en-IN" sz="4400" dirty="0">
              <a:solidFill>
                <a:schemeClr val="bg1">
                  <a:lumMod val="95000"/>
                </a:schemeClr>
              </a:solidFill>
              <a:latin typeface="Bodoni MT" panose="02070603080606020203" pitchFamily="18" charset="0"/>
            </a:endParaRPr>
          </a:p>
        </p:txBody>
      </p:sp>
      <p:sp>
        <p:nvSpPr>
          <p:cNvPr id="3" name="TextBox 2">
            <a:extLst>
              <a:ext uri="{FF2B5EF4-FFF2-40B4-BE49-F238E27FC236}">
                <a16:creationId xmlns:a16="http://schemas.microsoft.com/office/drawing/2014/main" id="{F80C33B4-EEAD-4A3B-A1B5-F7A2E97E1D79}"/>
              </a:ext>
            </a:extLst>
          </p:cNvPr>
          <p:cNvSpPr txBox="1"/>
          <p:nvPr/>
        </p:nvSpPr>
        <p:spPr>
          <a:xfrm>
            <a:off x="640080" y="3004456"/>
            <a:ext cx="3226526" cy="2031325"/>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Data Processing involves cleaning and organizing the extracted data. These steps are essential for transforming raw information into actionable insights, which feed directly into Power Bi for visualization.</a:t>
            </a:r>
            <a:endParaRPr lang="en-IN" dirty="0">
              <a:solidFill>
                <a:schemeClr val="bg1">
                  <a:lumMod val="95000"/>
                </a:schemeClr>
              </a:solidFill>
              <a:latin typeface="Bodoni MT" panose="02070603080606020203" pitchFamily="18" charset="0"/>
            </a:endParaRPr>
          </a:p>
        </p:txBody>
      </p:sp>
      <p:pic>
        <p:nvPicPr>
          <p:cNvPr id="5" name="Picture 4">
            <a:extLst>
              <a:ext uri="{FF2B5EF4-FFF2-40B4-BE49-F238E27FC236}">
                <a16:creationId xmlns:a16="http://schemas.microsoft.com/office/drawing/2014/main" id="{F42D9C5E-4B4B-45CA-9D70-35695C7D65F7}"/>
              </a:ext>
            </a:extLst>
          </p:cNvPr>
          <p:cNvPicPr>
            <a:picLocks noChangeAspect="1"/>
          </p:cNvPicPr>
          <p:nvPr/>
        </p:nvPicPr>
        <p:blipFill>
          <a:blip r:embed="rId2"/>
          <a:stretch>
            <a:fillRect/>
          </a:stretch>
        </p:blipFill>
        <p:spPr>
          <a:xfrm>
            <a:off x="4196380" y="1899857"/>
            <a:ext cx="4660245" cy="30582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25464888"/>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14F0D6-C287-4CB8-9899-FC3ABA2039BA}"/>
              </a:ext>
            </a:extLst>
          </p:cNvPr>
          <p:cNvSpPr txBox="1"/>
          <p:nvPr/>
        </p:nvSpPr>
        <p:spPr>
          <a:xfrm>
            <a:off x="522510" y="1175654"/>
            <a:ext cx="4794068" cy="1446550"/>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Purpose of excel in this project</a:t>
            </a:r>
            <a:endParaRPr lang="en-IN" sz="4400" dirty="0">
              <a:solidFill>
                <a:schemeClr val="bg1">
                  <a:lumMod val="95000"/>
                </a:schemeClr>
              </a:solidFill>
              <a:latin typeface="Bodoni MT" panose="02070603080606020203" pitchFamily="18" charset="0"/>
            </a:endParaRPr>
          </a:p>
        </p:txBody>
      </p:sp>
      <p:sp>
        <p:nvSpPr>
          <p:cNvPr id="3" name="TextBox 2">
            <a:extLst>
              <a:ext uri="{FF2B5EF4-FFF2-40B4-BE49-F238E27FC236}">
                <a16:creationId xmlns:a16="http://schemas.microsoft.com/office/drawing/2014/main" id="{D5DB2F2F-D043-4AF3-8F28-E624AC0A88BB}"/>
              </a:ext>
            </a:extLst>
          </p:cNvPr>
          <p:cNvSpPr txBox="1"/>
          <p:nvPr/>
        </p:nvSpPr>
        <p:spPr>
          <a:xfrm>
            <a:off x="613952" y="3213461"/>
            <a:ext cx="4310743" cy="1754326"/>
          </a:xfrm>
          <a:prstGeom prst="rect">
            <a:avLst/>
          </a:prstGeom>
          <a:noFill/>
        </p:spPr>
        <p:txBody>
          <a:bodyPr wrap="square" rtlCol="0">
            <a:spAutoFit/>
          </a:bodyPr>
          <a:lstStyle/>
          <a:p>
            <a:r>
              <a:rPr lang="en-US" dirty="0">
                <a:solidFill>
                  <a:schemeClr val="bg1">
                    <a:lumMod val="95000"/>
                  </a:schemeClr>
                </a:solidFill>
                <a:latin typeface="Bodoni MT" panose="02070603080606020203" pitchFamily="18" charset="0"/>
              </a:rPr>
              <a:t>Excel serve as the foundational platform for storing raw data, including trip and fare information. This organized structure supports efficient data management and serve as a primary data source for further analysis.</a:t>
            </a:r>
            <a:endParaRPr lang="en-IN" dirty="0">
              <a:solidFill>
                <a:schemeClr val="bg1">
                  <a:lumMod val="95000"/>
                </a:schemeClr>
              </a:solidFill>
              <a:latin typeface="Bodoni MT" panose="02070603080606020203" pitchFamily="18" charset="0"/>
            </a:endParaRPr>
          </a:p>
        </p:txBody>
      </p:sp>
      <p:pic>
        <p:nvPicPr>
          <p:cNvPr id="5" name="Picture 4">
            <a:extLst>
              <a:ext uri="{FF2B5EF4-FFF2-40B4-BE49-F238E27FC236}">
                <a16:creationId xmlns:a16="http://schemas.microsoft.com/office/drawing/2014/main" id="{B9B403D8-4D5D-4212-B699-CA101B708C78}"/>
              </a:ext>
            </a:extLst>
          </p:cNvPr>
          <p:cNvPicPr>
            <a:picLocks noChangeAspect="1"/>
          </p:cNvPicPr>
          <p:nvPr/>
        </p:nvPicPr>
        <p:blipFill>
          <a:blip r:embed="rId2"/>
          <a:stretch>
            <a:fillRect/>
          </a:stretch>
        </p:blipFill>
        <p:spPr>
          <a:xfrm>
            <a:off x="5085457" y="2110917"/>
            <a:ext cx="3692788" cy="26361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03240537"/>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81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F3DBD93-D814-4B9F-8149-DEC3F206DEA2}"/>
                  </a:ext>
                </a:extLst>
              </p:cNvPr>
              <p:cNvGraphicFramePr>
                <a:graphicFrameLocks noChangeAspect="1"/>
              </p:cNvGraphicFramePr>
              <p:nvPr/>
            </p:nvGraphicFramePr>
            <p:xfrm>
              <a:off x="837630" y="948520"/>
              <a:ext cx="1433015" cy="1074761"/>
            </p:xfrm>
            <a:graphic>
              <a:graphicData uri="http://schemas.microsoft.com/office/powerpoint/2016/slidezoom">
                <pslz:sldZm>
                  <pslz:sldZmObj sldId="256" cId="0">
                    <pslz:zmPr id="{55B4A315-DC2F-438C-A8E7-EB8ED2ED5570}" returnToParent="0" transitionDur="1000">
                      <p166:blipFill xmlns:p166="http://schemas.microsoft.com/office/powerpoint/2016/6/main">
                        <a:blip r:embed="rId2"/>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2F3DBD93-D814-4B9F-8149-DEC3F206DEA2}"/>
                  </a:ext>
                </a:extLst>
              </p:cNvPr>
              <p:cNvPicPr>
                <a:picLocks noGrp="1" noRot="1" noChangeAspect="1" noMove="1" noResize="1" noEditPoints="1" noAdjustHandles="1" noChangeArrowheads="1" noChangeShapeType="1"/>
              </p:cNvPicPr>
              <p:nvPr/>
            </p:nvPicPr>
            <p:blipFill>
              <a:blip r:embed="rId4"/>
              <a:stretch>
                <a:fillRect/>
              </a:stretch>
            </p:blipFill>
            <p:spPr>
              <a:xfrm>
                <a:off x="837630" y="948520"/>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9DEA19E9-B838-47B6-92D2-8312F78BC91D}"/>
                  </a:ext>
                </a:extLst>
              </p:cNvPr>
              <p:cNvGraphicFramePr>
                <a:graphicFrameLocks noChangeAspect="1"/>
              </p:cNvGraphicFramePr>
              <p:nvPr/>
            </p:nvGraphicFramePr>
            <p:xfrm>
              <a:off x="3301903" y="594956"/>
              <a:ext cx="1433015" cy="1074761"/>
            </p:xfrm>
            <a:graphic>
              <a:graphicData uri="http://schemas.microsoft.com/office/powerpoint/2016/slidezoom">
                <pslz:sldZm>
                  <pslz:sldZmObj sldId="262" cId="0">
                    <pslz:zmPr id="{02BA28DE-2590-45EA-9A9C-87B7392605EE}" returnToParent="0" transitionDur="1000">
                      <p166:blipFill xmlns:p166="http://schemas.microsoft.com/office/powerpoint/2016/6/main">
                        <a:blip r:embed="rId5"/>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0" name="Slide Zoom 9">
                <a:hlinkClick r:id="rId6" action="ppaction://hlinksldjump"/>
                <a:extLst>
                  <a:ext uri="{FF2B5EF4-FFF2-40B4-BE49-F238E27FC236}">
                    <a16:creationId xmlns:a16="http://schemas.microsoft.com/office/drawing/2014/main" id="{9DEA19E9-B838-47B6-92D2-8312F78BC91D}"/>
                  </a:ext>
                </a:extLst>
              </p:cNvPr>
              <p:cNvPicPr>
                <a:picLocks noGrp="1" noRot="1" noChangeAspect="1" noMove="1" noResize="1" noEditPoints="1" noAdjustHandles="1" noChangeArrowheads="1" noChangeShapeType="1"/>
              </p:cNvPicPr>
              <p:nvPr/>
            </p:nvPicPr>
            <p:blipFill>
              <a:blip r:embed="rId7"/>
              <a:stretch>
                <a:fillRect/>
              </a:stretch>
            </p:blipFill>
            <p:spPr>
              <a:xfrm>
                <a:off x="3301903" y="594956"/>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778E3D90-C2D0-4200-83B1-CA97AE8804DE}"/>
                  </a:ext>
                </a:extLst>
              </p:cNvPr>
              <p:cNvGraphicFramePr>
                <a:graphicFrameLocks noChangeAspect="1"/>
              </p:cNvGraphicFramePr>
              <p:nvPr/>
            </p:nvGraphicFramePr>
            <p:xfrm>
              <a:off x="5766176" y="893929"/>
              <a:ext cx="1433015" cy="1074761"/>
            </p:xfrm>
            <a:graphic>
              <a:graphicData uri="http://schemas.microsoft.com/office/powerpoint/2016/slidezoom">
                <pslz:sldZm>
                  <pslz:sldZmObj sldId="274" cId="922276391">
                    <pslz:zmPr id="{6C31A585-0A28-4F36-ABBF-4C2389ED7F8F}" returnToParent="0" transitionDur="1000">
                      <p166:blipFill xmlns:p166="http://schemas.microsoft.com/office/powerpoint/2016/6/main">
                        <a:blip r:embed="rId8"/>
                        <a:stretch>
                          <a:fillRect/>
                        </a:stretch>
                      </p166:blipFill>
                      <p166:spPr xmlns:p166="http://schemas.microsoft.com/office/powerpoint/2016/6/main">
                        <a:xfrm>
                          <a:off x="0" y="0"/>
                          <a:ext cx="1433015" cy="1074761"/>
                        </a:xfrm>
                        <a:prstGeom prst="rect">
                          <a:avLst/>
                        </a:prstGeom>
                        <a:effectLst>
                          <a:softEdge rad="63500"/>
                        </a:effectLst>
                      </p166:spPr>
                    </pslz:zmPr>
                  </pslz:sldZmObj>
                </pslz:sldZm>
              </a:graphicData>
            </a:graphic>
          </p:graphicFrame>
        </mc:Choice>
        <mc:Fallback xmlns="">
          <p:pic>
            <p:nvPicPr>
              <p:cNvPr id="12" name="Slide Zoom 11">
                <a:hlinkClick r:id="rId9" action="ppaction://hlinksldjump"/>
                <a:extLst>
                  <a:ext uri="{FF2B5EF4-FFF2-40B4-BE49-F238E27FC236}">
                    <a16:creationId xmlns:a16="http://schemas.microsoft.com/office/drawing/2014/main" id="{778E3D90-C2D0-4200-83B1-CA97AE8804DE}"/>
                  </a:ext>
                </a:extLst>
              </p:cNvPr>
              <p:cNvPicPr>
                <a:picLocks noGrp="1" noRot="1" noChangeAspect="1" noMove="1" noResize="1" noEditPoints="1" noAdjustHandles="1" noChangeArrowheads="1" noChangeShapeType="1"/>
              </p:cNvPicPr>
              <p:nvPr/>
            </p:nvPicPr>
            <p:blipFill>
              <a:blip r:embed="rId10"/>
              <a:stretch>
                <a:fillRect/>
              </a:stretch>
            </p:blipFill>
            <p:spPr>
              <a:xfrm>
                <a:off x="5766176" y="893929"/>
                <a:ext cx="1433015" cy="1074761"/>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7724042-5256-4DB7-B8D1-77F4C355B229}"/>
                  </a:ext>
                </a:extLst>
              </p:cNvPr>
              <p:cNvGraphicFramePr>
                <a:graphicFrameLocks noChangeAspect="1"/>
              </p:cNvGraphicFramePr>
              <p:nvPr/>
            </p:nvGraphicFramePr>
            <p:xfrm>
              <a:off x="1187784" y="5426692"/>
              <a:ext cx="1433016" cy="1074762"/>
            </p:xfrm>
            <a:graphic>
              <a:graphicData uri="http://schemas.microsoft.com/office/powerpoint/2016/slidezoom">
                <pslz:sldZm>
                  <pslz:sldZmObj sldId="265" cId="4215375714">
                    <pslz:zmPr id="{E4A24BE7-2370-4FB1-A388-13BF1DE044C8}" returnToParent="0" transitionDur="1000">
                      <p166:blipFill xmlns:p166="http://schemas.microsoft.com/office/powerpoint/2016/6/main">
                        <a:blip r:embed="rId11"/>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4" name="Slide Zoom 13">
                <a:hlinkClick r:id="rId12" action="ppaction://hlinksldjump"/>
                <a:extLst>
                  <a:ext uri="{FF2B5EF4-FFF2-40B4-BE49-F238E27FC236}">
                    <a16:creationId xmlns:a16="http://schemas.microsoft.com/office/drawing/2014/main" id="{57724042-5256-4DB7-B8D1-77F4C355B229}"/>
                  </a:ext>
                </a:extLst>
              </p:cNvPr>
              <p:cNvPicPr>
                <a:picLocks noGrp="1" noRot="1" noChangeAspect="1" noMove="1" noResize="1" noEditPoints="1" noAdjustHandles="1" noChangeArrowheads="1" noChangeShapeType="1"/>
              </p:cNvPicPr>
              <p:nvPr/>
            </p:nvPicPr>
            <p:blipFill>
              <a:blip r:embed="rId13"/>
              <a:stretch>
                <a:fillRect/>
              </a:stretch>
            </p:blipFill>
            <p:spPr>
              <a:xfrm>
                <a:off x="1187784" y="5426692"/>
                <a:ext cx="1433016" cy="1074762"/>
              </a:xfrm>
              <a:prstGeom prst="rect">
                <a:avLst/>
              </a:prstGeom>
              <a:effectLst>
                <a:softEdge rad="63500"/>
              </a:effectLst>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417DA442-5F2F-4206-870D-A0BA4D50B751}"/>
                  </a:ext>
                </a:extLst>
              </p:cNvPr>
              <p:cNvGraphicFramePr>
                <a:graphicFrameLocks noChangeAspect="1"/>
              </p:cNvGraphicFramePr>
              <p:nvPr/>
            </p:nvGraphicFramePr>
            <p:xfrm>
              <a:off x="4734918" y="4889311"/>
              <a:ext cx="1433016" cy="1074762"/>
            </p:xfrm>
            <a:graphic>
              <a:graphicData uri="http://schemas.microsoft.com/office/powerpoint/2016/slidezoom">
                <pslz:sldZm>
                  <pslz:sldZmObj sldId="268" cId="3056007323">
                    <pslz:zmPr id="{AA1A169A-BD04-4C69-B25A-406BEEC069C9}" returnToParent="0" transitionDur="1000">
                      <p166:blipFill xmlns:p166="http://schemas.microsoft.com/office/powerpoint/2016/6/main">
                        <a:blip r:embed="rId14"/>
                        <a:stretch>
                          <a:fillRect/>
                        </a:stretch>
                      </p166:blipFill>
                      <p166:spPr xmlns:p166="http://schemas.microsoft.com/office/powerpoint/2016/6/main">
                        <a:xfrm>
                          <a:off x="0" y="0"/>
                          <a:ext cx="1433016" cy="1074762"/>
                        </a:xfrm>
                        <a:prstGeom prst="rect">
                          <a:avLst/>
                        </a:prstGeom>
                        <a:effectLst>
                          <a:softEdge rad="63500"/>
                        </a:effectLst>
                      </p166:spPr>
                    </pslz:zmPr>
                  </pslz:sldZmObj>
                </pslz:sldZm>
              </a:graphicData>
            </a:graphic>
          </p:graphicFrame>
        </mc:Choice>
        <mc:Fallback xmlns="">
          <p:pic>
            <p:nvPicPr>
              <p:cNvPr id="16" name="Slide Zoom 15">
                <a:hlinkClick r:id="rId15" action="ppaction://hlinksldjump"/>
                <a:extLst>
                  <a:ext uri="{FF2B5EF4-FFF2-40B4-BE49-F238E27FC236}">
                    <a16:creationId xmlns:a16="http://schemas.microsoft.com/office/drawing/2014/main" id="{417DA442-5F2F-4206-870D-A0BA4D50B751}"/>
                  </a:ext>
                </a:extLst>
              </p:cNvPr>
              <p:cNvPicPr>
                <a:picLocks noGrp="1" noRot="1" noChangeAspect="1" noMove="1" noResize="1" noEditPoints="1" noAdjustHandles="1" noChangeArrowheads="1" noChangeShapeType="1"/>
              </p:cNvPicPr>
              <p:nvPr/>
            </p:nvPicPr>
            <p:blipFill>
              <a:blip r:embed="rId16"/>
              <a:stretch>
                <a:fillRect/>
              </a:stretch>
            </p:blipFill>
            <p:spPr>
              <a:xfrm>
                <a:off x="4734918" y="4889311"/>
                <a:ext cx="1433016" cy="1074762"/>
              </a:xfrm>
              <a:prstGeom prst="rect">
                <a:avLst/>
              </a:prstGeom>
              <a:effectLst>
                <a:softEdge rad="63500"/>
              </a:effectLst>
            </p:spPr>
          </p:pic>
        </mc:Fallback>
      </mc:AlternateContent>
      <p:cxnSp>
        <p:nvCxnSpPr>
          <p:cNvPr id="21" name="Connector: Elbow 20">
            <a:extLst>
              <a:ext uri="{FF2B5EF4-FFF2-40B4-BE49-F238E27FC236}">
                <a16:creationId xmlns:a16="http://schemas.microsoft.com/office/drawing/2014/main" id="{398519EA-E18F-43B5-A398-F9CB2C4E5BB2}"/>
              </a:ext>
            </a:extLst>
          </p:cNvPr>
          <p:cNvCxnSpPr/>
          <p:nvPr/>
        </p:nvCxnSpPr>
        <p:spPr>
          <a:xfrm rot="5400000" flipH="1" flipV="1">
            <a:off x="516056" y="2344856"/>
            <a:ext cx="1047465" cy="4043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B285023-AF83-4C89-A7B1-27244E067E3A}"/>
              </a:ext>
            </a:extLst>
          </p:cNvPr>
          <p:cNvCxnSpPr/>
          <p:nvPr/>
        </p:nvCxnSpPr>
        <p:spPr>
          <a:xfrm rot="5400000" flipH="1" flipV="1">
            <a:off x="3283351" y="1811955"/>
            <a:ext cx="877297" cy="5928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D2F7B90-4354-4414-9896-B05872D8EB79}"/>
              </a:ext>
            </a:extLst>
          </p:cNvPr>
          <p:cNvCxnSpPr/>
          <p:nvPr/>
        </p:nvCxnSpPr>
        <p:spPr>
          <a:xfrm flipV="1">
            <a:off x="4572000" y="1669717"/>
            <a:ext cx="1181036" cy="713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B9430625-E8CC-45B6-99F5-9C044E802AC3}"/>
              </a:ext>
            </a:extLst>
          </p:cNvPr>
          <p:cNvCxnSpPr/>
          <p:nvPr/>
        </p:nvCxnSpPr>
        <p:spPr>
          <a:xfrm rot="16200000" flipH="1">
            <a:off x="885060" y="4669580"/>
            <a:ext cx="1091393" cy="3776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836EE5DD-AE6E-4623-A10F-12286F2647D3}"/>
              </a:ext>
            </a:extLst>
          </p:cNvPr>
          <p:cNvCxnSpPr/>
          <p:nvPr/>
        </p:nvCxnSpPr>
        <p:spPr>
          <a:xfrm>
            <a:off x="3603009" y="4203510"/>
            <a:ext cx="1131909" cy="8871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58D9B1B-9A8F-408D-A909-15B62CAE5FCA}"/>
              </a:ext>
            </a:extLst>
          </p:cNvPr>
          <p:cNvSpPr txBox="1"/>
          <p:nvPr/>
        </p:nvSpPr>
        <p:spPr>
          <a:xfrm>
            <a:off x="709684" y="594956"/>
            <a:ext cx="1719617"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Introduction</a:t>
            </a:r>
            <a:endParaRPr lang="en-IN" dirty="0">
              <a:solidFill>
                <a:schemeClr val="accent1">
                  <a:lumMod val="50000"/>
                </a:schemeClr>
              </a:solidFill>
              <a:latin typeface="Arial Rounded MT Bold" panose="020F0704030504030204" pitchFamily="34" charset="0"/>
            </a:endParaRPr>
          </a:p>
        </p:txBody>
      </p:sp>
      <p:sp>
        <p:nvSpPr>
          <p:cNvPr id="34" name="TextBox 33">
            <a:extLst>
              <a:ext uri="{FF2B5EF4-FFF2-40B4-BE49-F238E27FC236}">
                <a16:creationId xmlns:a16="http://schemas.microsoft.com/office/drawing/2014/main" id="{CA773B32-90D3-47BD-9983-0261038E676C}"/>
              </a:ext>
            </a:extLst>
          </p:cNvPr>
          <p:cNvSpPr txBox="1"/>
          <p:nvPr/>
        </p:nvSpPr>
        <p:spPr>
          <a:xfrm>
            <a:off x="3330053" y="19733"/>
            <a:ext cx="1719617" cy="646331"/>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Dashboard</a:t>
            </a:r>
            <a:endParaRPr lang="en-IN" dirty="0">
              <a:solidFill>
                <a:schemeClr val="accent1">
                  <a:lumMod val="50000"/>
                </a:schemeClr>
              </a:solidFill>
              <a:latin typeface="Arial Rounded MT Bold" panose="020F0704030504030204" pitchFamily="34" charset="0"/>
            </a:endParaRPr>
          </a:p>
        </p:txBody>
      </p:sp>
      <p:sp>
        <p:nvSpPr>
          <p:cNvPr id="35" name="TextBox 34">
            <a:extLst>
              <a:ext uri="{FF2B5EF4-FFF2-40B4-BE49-F238E27FC236}">
                <a16:creationId xmlns:a16="http://schemas.microsoft.com/office/drawing/2014/main" id="{19AA11E6-0056-4D60-A7E2-EBF0B986EE72}"/>
              </a:ext>
            </a:extLst>
          </p:cNvPr>
          <p:cNvSpPr txBox="1"/>
          <p:nvPr/>
        </p:nvSpPr>
        <p:spPr>
          <a:xfrm>
            <a:off x="5766176" y="567660"/>
            <a:ext cx="133066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EDA</a:t>
            </a:r>
            <a:endParaRPr lang="en-IN" dirty="0">
              <a:solidFill>
                <a:schemeClr val="accent1">
                  <a:lumMod val="50000"/>
                </a:schemeClr>
              </a:solidFill>
              <a:latin typeface="Arial Rounded MT Bold" panose="020F0704030504030204" pitchFamily="34" charset="0"/>
            </a:endParaRPr>
          </a:p>
        </p:txBody>
      </p:sp>
      <p:sp>
        <p:nvSpPr>
          <p:cNvPr id="36" name="TextBox 35">
            <a:extLst>
              <a:ext uri="{FF2B5EF4-FFF2-40B4-BE49-F238E27FC236}">
                <a16:creationId xmlns:a16="http://schemas.microsoft.com/office/drawing/2014/main" id="{0C5E00C7-9775-4C3E-8F76-6B47E02160E4}"/>
              </a:ext>
            </a:extLst>
          </p:cNvPr>
          <p:cNvSpPr txBox="1"/>
          <p:nvPr/>
        </p:nvSpPr>
        <p:spPr>
          <a:xfrm>
            <a:off x="982637" y="6474158"/>
            <a:ext cx="1951630"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dirty="0">
                <a:solidFill>
                  <a:schemeClr val="accent1">
                    <a:lumMod val="50000"/>
                  </a:schemeClr>
                </a:solidFill>
                <a:latin typeface="Arial Rounded MT Bold" panose="020F0704030504030204" pitchFamily="34" charset="0"/>
              </a:rPr>
              <a:t>Purpose </a:t>
            </a:r>
            <a:r>
              <a:rPr lang="en-US">
                <a:solidFill>
                  <a:schemeClr val="accent1">
                    <a:lumMod val="50000"/>
                  </a:schemeClr>
                </a:solidFill>
                <a:latin typeface="Arial Rounded MT Bold" panose="020F0704030504030204" pitchFamily="34" charset="0"/>
              </a:rPr>
              <a:t>of SQL</a:t>
            </a:r>
            <a:endParaRPr lang="en-IN" dirty="0">
              <a:solidFill>
                <a:schemeClr val="accent1">
                  <a:lumMod val="50000"/>
                </a:schemeClr>
              </a:solidFill>
              <a:latin typeface="Arial Rounded MT Bold" panose="020F0704030504030204" pitchFamily="34" charset="0"/>
            </a:endParaRPr>
          </a:p>
        </p:txBody>
      </p:sp>
      <p:sp>
        <p:nvSpPr>
          <p:cNvPr id="37" name="TextBox 36">
            <a:extLst>
              <a:ext uri="{FF2B5EF4-FFF2-40B4-BE49-F238E27FC236}">
                <a16:creationId xmlns:a16="http://schemas.microsoft.com/office/drawing/2014/main" id="{99C7AB09-8CCB-4EF3-9F2E-0867812E3A75}"/>
              </a:ext>
            </a:extLst>
          </p:cNvPr>
          <p:cNvSpPr txBox="1"/>
          <p:nvPr/>
        </p:nvSpPr>
        <p:spPr>
          <a:xfrm>
            <a:off x="4693974" y="6045957"/>
            <a:ext cx="1529404" cy="369332"/>
          </a:xfrm>
          <a:prstGeom prst="rect">
            <a:avLst/>
          </a:prstGeom>
          <a:noFill/>
          <a:ln>
            <a:noFill/>
          </a:ln>
          <a:effectLst>
            <a:reflection blurRad="6350" stA="52000" endA="300" endPos="35000" dir="5400000" sy="-100000" algn="bl" rotWithShape="0"/>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a:solidFill>
                  <a:schemeClr val="accent1">
                    <a:lumMod val="50000"/>
                  </a:schemeClr>
                </a:solidFill>
                <a:latin typeface="Arial Rounded MT Bold" panose="020F0704030504030204" pitchFamily="34" charset="0"/>
              </a:rPr>
              <a:t>Insights</a:t>
            </a:r>
            <a:endParaRPr lang="en-IN" dirty="0">
              <a:solidFill>
                <a:schemeClr val="accent1">
                  <a:lumMod val="50000"/>
                </a:schemeClr>
              </a:solidFill>
              <a:latin typeface="Arial Rounded MT Bold" panose="020F0704030504030204" pitchFamily="34" charset="0"/>
            </a:endParaRPr>
          </a:p>
        </p:txBody>
      </p:sp>
      <p:pic>
        <p:nvPicPr>
          <p:cNvPr id="38" name="Picture 37">
            <a:extLst>
              <a:ext uri="{FF2B5EF4-FFF2-40B4-BE49-F238E27FC236}">
                <a16:creationId xmlns:a16="http://schemas.microsoft.com/office/drawing/2014/main" id="{821BB080-B721-4613-97E2-A60ADCB2902D}"/>
              </a:ext>
            </a:extLst>
          </p:cNvPr>
          <p:cNvPicPr>
            <a:picLocks noChangeAspect="1"/>
          </p:cNvPicPr>
          <p:nvPr/>
        </p:nvPicPr>
        <p:blipFill>
          <a:blip r:embed="rId17">
            <a:extLst>
              <a:ext uri="{BEBA8EAE-BF5A-486C-A8C5-ECC9F3942E4B}">
                <a14:imgProps xmlns:a14="http://schemas.microsoft.com/office/drawing/2010/main">
                  <a14:imgLayer r:embed="rId18">
                    <a14:imgEffect>
                      <a14:artisticTexturizer/>
                    </a14:imgEffect>
                  </a14:imgLayer>
                </a14:imgProps>
              </a:ext>
            </a:extLst>
          </a:blip>
          <a:stretch>
            <a:fillRect/>
          </a:stretch>
        </p:blipFill>
        <p:spPr>
          <a:xfrm>
            <a:off x="-235080" y="-104776"/>
            <a:ext cx="10501258" cy="7094847"/>
          </a:xfrm>
          <a:prstGeom prst="roundRect">
            <a:avLst>
              <a:gd name="adj" fmla="val 8594"/>
            </a:avLst>
          </a:prstGeom>
          <a:noFill/>
          <a:ln>
            <a:noFill/>
          </a:ln>
        </p:spPr>
        <p:style>
          <a:lnRef idx="0">
            <a:scrgbClr r="0" g="0" b="0"/>
          </a:lnRef>
          <a:fillRef idx="0">
            <a:scrgbClr r="0" g="0" b="0"/>
          </a:fillRef>
          <a:effectRef idx="0">
            <a:scrgbClr r="0" g="0" b="0"/>
          </a:effectRef>
          <a:fontRef idx="minor">
            <a:schemeClr val="dk1"/>
          </a:fontRef>
        </p:style>
      </p:pic>
    </p:spTree>
    <p:extLst>
      <p:ext uri="{BB962C8B-B14F-4D97-AF65-F5344CB8AC3E}">
        <p14:creationId xmlns:p14="http://schemas.microsoft.com/office/powerpoint/2010/main" val="471758186"/>
      </p:ext>
    </p:extLst>
  </p:cSld>
  <p:clrMapOvr>
    <a:masterClrMapping/>
  </p:clrMapOvr>
  <mc:AlternateContent xmlns:mc="http://schemas.openxmlformats.org/markup-compatibility/2006" xmlns:p14="http://schemas.microsoft.com/office/powerpoint/2010/main">
    <mc:Choice Requires="p14">
      <p:transition spd="slow" p14:dur="1500">
        <p14:flythrough dir="ou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BF3815-EBB4-4493-903C-4FB8E19F0DFD}"/>
              </a:ext>
            </a:extLst>
          </p:cNvPr>
          <p:cNvSpPr txBox="1"/>
          <p:nvPr/>
        </p:nvSpPr>
        <p:spPr>
          <a:xfrm>
            <a:off x="4741817" y="1265830"/>
            <a:ext cx="3526972"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Key Insights</a:t>
            </a:r>
            <a:endParaRPr lang="en-IN" sz="4400" dirty="0">
              <a:solidFill>
                <a:schemeClr val="bg1">
                  <a:lumMod val="95000"/>
                </a:schemeClr>
              </a:solidFill>
              <a:latin typeface="Bodoni MT" panose="02070603080606020203" pitchFamily="18" charset="0"/>
            </a:endParaRPr>
          </a:p>
        </p:txBody>
      </p:sp>
      <p:sp>
        <p:nvSpPr>
          <p:cNvPr id="4" name="Rectangle 1">
            <a:extLst>
              <a:ext uri="{FF2B5EF4-FFF2-40B4-BE49-F238E27FC236}">
                <a16:creationId xmlns:a16="http://schemas.microsoft.com/office/drawing/2014/main" id="{1C157109-15FD-45CC-B5B8-926DA69F1A27}"/>
              </a:ext>
            </a:extLst>
          </p:cNvPr>
          <p:cNvSpPr>
            <a:spLocks noChangeArrowheads="1"/>
          </p:cNvSpPr>
          <p:nvPr/>
        </p:nvSpPr>
        <p:spPr bwMode="auto">
          <a:xfrm>
            <a:off x="4650378" y="2194840"/>
            <a:ext cx="435252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Digital payments (UPI &amp; cards) are preferred over cash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Few routes generate higher trip volumes and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Fare increases with distance, but fare per km decreases for long trips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Low cancellation rate indicates operational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Urban and mid-distance trips dominate overall demand</a:t>
            </a:r>
          </a:p>
        </p:txBody>
      </p:sp>
      <p:pic>
        <p:nvPicPr>
          <p:cNvPr id="6" name="Picture 5">
            <a:extLst>
              <a:ext uri="{FF2B5EF4-FFF2-40B4-BE49-F238E27FC236}">
                <a16:creationId xmlns:a16="http://schemas.microsoft.com/office/drawing/2014/main" id="{96D6470C-FBCB-452C-B845-235D5231A4AA}"/>
              </a:ext>
            </a:extLst>
          </p:cNvPr>
          <p:cNvPicPr>
            <a:picLocks noChangeAspect="1"/>
          </p:cNvPicPr>
          <p:nvPr/>
        </p:nvPicPr>
        <p:blipFill>
          <a:blip r:embed="rId2"/>
          <a:stretch>
            <a:fillRect/>
          </a:stretch>
        </p:blipFill>
        <p:spPr>
          <a:xfrm>
            <a:off x="219479" y="2106912"/>
            <a:ext cx="4291389" cy="28623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56007323"/>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D39A6E-480B-4A76-9D84-A198915DC2AC}"/>
              </a:ext>
            </a:extLst>
          </p:cNvPr>
          <p:cNvSpPr txBox="1"/>
          <p:nvPr/>
        </p:nvSpPr>
        <p:spPr>
          <a:xfrm>
            <a:off x="470260" y="1332412"/>
            <a:ext cx="4820196"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Business Insights</a:t>
            </a:r>
            <a:endParaRPr lang="en-IN" sz="4400" dirty="0">
              <a:solidFill>
                <a:schemeClr val="bg1">
                  <a:lumMod val="95000"/>
                </a:schemeClr>
              </a:solidFill>
              <a:latin typeface="Bodoni MT" panose="02070603080606020203" pitchFamily="18" charset="0"/>
            </a:endParaRPr>
          </a:p>
        </p:txBody>
      </p:sp>
      <p:sp>
        <p:nvSpPr>
          <p:cNvPr id="4" name="Rectangle 1">
            <a:extLst>
              <a:ext uri="{FF2B5EF4-FFF2-40B4-BE49-F238E27FC236}">
                <a16:creationId xmlns:a16="http://schemas.microsoft.com/office/drawing/2014/main" id="{A3C4A177-25AD-4CEA-B081-7A6B17F8DE92}"/>
              </a:ext>
            </a:extLst>
          </p:cNvPr>
          <p:cNvSpPr>
            <a:spLocks noChangeArrowheads="1"/>
          </p:cNvSpPr>
          <p:nvPr/>
        </p:nvSpPr>
        <p:spPr bwMode="auto">
          <a:xfrm>
            <a:off x="496386" y="2471141"/>
            <a:ext cx="410174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lumMod val="95000"/>
                  </a:schemeClr>
                </a:solidFill>
                <a:effectLst/>
                <a:latin typeface="Bodoni MT" panose="02070603080606020203" pitchFamily="18" charset="0"/>
              </a:rPr>
              <a:t>Driver earnings vary based on trip distance and frequency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Quote acceptance rate differs by location, showing demand–supply gaps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Pricing strategy is dynamic and fair across routes and payment modes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95000"/>
                  </a:schemeClr>
                </a:solidFill>
                <a:effectLst/>
                <a:latin typeface="Bodoni MT" panose="02070603080606020203" pitchFamily="18" charset="0"/>
              </a:rPr>
              <a:t>Revenue is driven by both trip volume and long-distance rides</a:t>
            </a:r>
          </a:p>
        </p:txBody>
      </p:sp>
      <p:pic>
        <p:nvPicPr>
          <p:cNvPr id="6" name="Picture 5">
            <a:extLst>
              <a:ext uri="{FF2B5EF4-FFF2-40B4-BE49-F238E27FC236}">
                <a16:creationId xmlns:a16="http://schemas.microsoft.com/office/drawing/2014/main" id="{A167F37E-E5B1-431F-8B2F-4D0E5847550D}"/>
              </a:ext>
            </a:extLst>
          </p:cNvPr>
          <p:cNvPicPr>
            <a:picLocks noChangeAspect="1"/>
          </p:cNvPicPr>
          <p:nvPr/>
        </p:nvPicPr>
        <p:blipFill>
          <a:blip r:embed="rId2"/>
          <a:stretch>
            <a:fillRect/>
          </a:stretch>
        </p:blipFill>
        <p:spPr>
          <a:xfrm>
            <a:off x="5290456" y="1678938"/>
            <a:ext cx="3214280" cy="35001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26614087"/>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F3D88-39C9-4078-BEC8-FE753ED2E01A}"/>
              </a:ext>
            </a:extLst>
          </p:cNvPr>
          <p:cNvSpPr txBox="1"/>
          <p:nvPr/>
        </p:nvSpPr>
        <p:spPr>
          <a:xfrm>
            <a:off x="431073" y="1359807"/>
            <a:ext cx="3553098"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Conclusion </a:t>
            </a:r>
            <a:endParaRPr lang="en-IN" sz="4400" dirty="0">
              <a:solidFill>
                <a:schemeClr val="bg1">
                  <a:lumMod val="95000"/>
                </a:schemeClr>
              </a:solidFill>
              <a:latin typeface="Bodoni MT" panose="02070603080606020203" pitchFamily="18" charset="0"/>
            </a:endParaRPr>
          </a:p>
        </p:txBody>
      </p:sp>
      <p:sp>
        <p:nvSpPr>
          <p:cNvPr id="4" name="TextBox 3">
            <a:extLst>
              <a:ext uri="{FF2B5EF4-FFF2-40B4-BE49-F238E27FC236}">
                <a16:creationId xmlns:a16="http://schemas.microsoft.com/office/drawing/2014/main" id="{8699785C-E146-4612-BCA9-F4BCF8FC5294}"/>
              </a:ext>
            </a:extLst>
          </p:cNvPr>
          <p:cNvSpPr txBox="1"/>
          <p:nvPr/>
        </p:nvSpPr>
        <p:spPr>
          <a:xfrm>
            <a:off x="431073" y="2286671"/>
            <a:ext cx="3213464" cy="3139321"/>
          </a:xfrm>
          <a:prstGeom prst="rect">
            <a:avLst/>
          </a:prstGeom>
          <a:noFill/>
        </p:spPr>
        <p:txBody>
          <a:bodyPr wrap="square">
            <a:spAutoFit/>
          </a:bodyPr>
          <a:lstStyle/>
          <a:p>
            <a:r>
              <a:rPr lang="en-US" dirty="0">
                <a:solidFill>
                  <a:schemeClr val="bg1">
                    <a:lumMod val="95000"/>
                  </a:schemeClr>
                </a:solidFill>
                <a:latin typeface="Bodoni MT" panose="02070603080606020203" pitchFamily="18" charset="0"/>
              </a:rPr>
              <a:t>The Power BI dashboard provides actionable insights into Namma Yatri’s operations, pricing efficiency, and customer behavior. The analysis highlights balanced demand, fair pricing, strong digital adoption, and efficient driver utilization, enabling better decision-making and future scalability.</a:t>
            </a:r>
            <a:endParaRPr lang="en-IN" dirty="0">
              <a:solidFill>
                <a:schemeClr val="bg1">
                  <a:lumMod val="95000"/>
                </a:schemeClr>
              </a:solidFill>
              <a:latin typeface="Bodoni MT" panose="02070603080606020203" pitchFamily="18" charset="0"/>
            </a:endParaRPr>
          </a:p>
        </p:txBody>
      </p:sp>
      <p:pic>
        <p:nvPicPr>
          <p:cNvPr id="6" name="Picture 5">
            <a:extLst>
              <a:ext uri="{FF2B5EF4-FFF2-40B4-BE49-F238E27FC236}">
                <a16:creationId xmlns:a16="http://schemas.microsoft.com/office/drawing/2014/main" id="{8F6FB69E-05ED-41D6-86C8-77B73789A641}"/>
              </a:ext>
            </a:extLst>
          </p:cNvPr>
          <p:cNvPicPr>
            <a:picLocks noChangeAspect="1"/>
          </p:cNvPicPr>
          <p:nvPr/>
        </p:nvPicPr>
        <p:blipFill>
          <a:blip r:embed="rId2"/>
          <a:stretch>
            <a:fillRect/>
          </a:stretch>
        </p:blipFill>
        <p:spPr>
          <a:xfrm>
            <a:off x="4219301" y="2286670"/>
            <a:ext cx="4427303" cy="29515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91920836"/>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653559-A992-415C-B836-B1F03559C010}"/>
              </a:ext>
            </a:extLst>
          </p:cNvPr>
          <p:cNvSpPr txBox="1"/>
          <p:nvPr/>
        </p:nvSpPr>
        <p:spPr>
          <a:xfrm>
            <a:off x="3070746" y="2852382"/>
            <a:ext cx="4667534" cy="769441"/>
          </a:xfrm>
          <a:prstGeom prst="rect">
            <a:avLst/>
          </a:prstGeom>
          <a:noFill/>
        </p:spPr>
        <p:txBody>
          <a:bodyPr wrap="square" rtlCol="0">
            <a:spAutoFit/>
          </a:bodyPr>
          <a:lstStyle/>
          <a:p>
            <a:r>
              <a:rPr lang="en-US" sz="4400" dirty="0">
                <a:solidFill>
                  <a:schemeClr val="bg1">
                    <a:lumMod val="95000"/>
                  </a:schemeClr>
                </a:solidFill>
                <a:latin typeface="Bodoni MT" panose="02070603080606020203" pitchFamily="18" charset="0"/>
              </a:rPr>
              <a:t>Thank You</a:t>
            </a:r>
            <a:endParaRPr lang="en-IN" sz="4400" dirty="0">
              <a:solidFill>
                <a:schemeClr val="bg1">
                  <a:lumMod val="95000"/>
                </a:schemeClr>
              </a:solidFill>
              <a:latin typeface="Bodoni MT" panose="02070603080606020203" pitchFamily="18" charset="0"/>
            </a:endParaRPr>
          </a:p>
        </p:txBody>
      </p:sp>
    </p:spTree>
    <p:extLst>
      <p:ext uri="{BB962C8B-B14F-4D97-AF65-F5344CB8AC3E}">
        <p14:creationId xmlns:p14="http://schemas.microsoft.com/office/powerpoint/2010/main" val="2581763791"/>
      </p:ext>
    </p:extLst>
  </p:cSld>
  <p:clrMapOvr>
    <a:masterClrMapping/>
  </p:clrMapOvr>
  <mc:AlternateContent xmlns:mc="http://schemas.openxmlformats.org/markup-compatibility/2006" xmlns:p14="http://schemas.microsoft.com/office/powerpoint/2010/main">
    <mc:Choice Requires="p14">
      <p:transition spd="slow" p14:dur="15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608</TotalTime>
  <Words>1145</Words>
  <Application>Microsoft Office PowerPoint</Application>
  <PresentationFormat>On-screen Show (4:3)</PresentationFormat>
  <Paragraphs>138</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 Rounded MT Bold</vt:lpstr>
      <vt:lpstr>Bodoni MT</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dc:creator>
  <cp:keywords/>
  <dc:description>generated using python-pptx</dc:description>
  <cp:lastModifiedBy>Sudipta Haldar</cp:lastModifiedBy>
  <cp:revision>12</cp:revision>
  <dcterms:created xsi:type="dcterms:W3CDTF">2013-01-27T09:14:16Z</dcterms:created>
  <dcterms:modified xsi:type="dcterms:W3CDTF">2026-01-07T06:52:29Z</dcterms:modified>
  <cp:category/>
</cp:coreProperties>
</file>